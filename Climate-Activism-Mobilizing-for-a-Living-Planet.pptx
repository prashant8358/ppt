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258" r:id="rId4"/>
    <p:sldId id="259" r:id="rId5"/>
    <p:sldId id="261" r:id="rId6"/>
    <p:sldId id="260" r:id="rId7"/>
    <p:sldId id="263" r:id="rId8"/>
    <p:sldId id="266" r:id="rId9"/>
    <p:sldId id="262" r:id="rId10"/>
    <p:sldId id="264" r:id="rId11"/>
    <p:sldId id="265" r:id="rId12"/>
    <p:sldId id="275" r:id="rId13"/>
    <p:sldId id="270" r:id="rId14"/>
    <p:sldId id="267" r:id="rId15"/>
    <p:sldId id="268" r:id="rId16"/>
    <p:sldId id="269" r:id="rId17"/>
    <p:sldId id="272" r:id="rId18"/>
    <p:sldId id="271" r:id="rId19"/>
    <p:sldId id="273" r:id="rId20"/>
    <p:sldId id="274" r:id="rId21"/>
    <p:sldId id="276" r:id="rId22"/>
  </p:sldIdLst>
  <p:sldSz cx="12192000" cy="6858000"/>
  <p:notesSz cx="6858000" cy="12192000"/>
  <p:embeddedFontLst>
    <p:embeddedFont>
      <p:font typeface="Barlow" panose="00000500000000000000" pitchFamily="2" charset="0"/>
      <p:regular r:id="rId25"/>
      <p:bold r:id="rId26"/>
    </p:embeddedFont>
    <p:embeddedFont>
      <p:font typeface="Barlow Bold" panose="00000800000000000000" charset="0"/>
      <p:regular r:id="rId27"/>
    </p:embeddedFont>
    <p:embeddedFont>
      <p:font typeface="Barlow Condensed Bold" panose="020B0604020202020204" charset="0"/>
      <p:regular r:id="rId28"/>
    </p:embeddedFont>
    <p:embeddedFont>
      <p:font typeface="Barlow Medium" panose="00000600000000000000" pitchFamily="2" charset="0"/>
      <p:regular r:id="rId29"/>
    </p:embeddedFont>
    <p:embeddedFont>
      <p:font typeface="Barlow SemiBold" panose="00000700000000000000" pitchFamily="2" charset="0"/>
      <p:bold r:id="rId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4A3C"/>
    <a:srgbClr val="1028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5706" autoAdjust="0"/>
  </p:normalViewPr>
  <p:slideViewPr>
    <p:cSldViewPr snapToGrid="0" snapToObjects="1">
      <p:cViewPr varScale="1">
        <p:scale>
          <a:sx n="79" d="100"/>
          <a:sy n="79" d="100"/>
        </p:scale>
        <p:origin x="101" y="34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54" d="100"/>
          <a:sy n="54" d="100"/>
        </p:scale>
        <p:origin x="3408" y="91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35DABA3-C712-F188-27B2-7C49983F045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7D9B89-8EA8-A445-7342-934A5F46B9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497FB4-A68C-4581-9BBB-D0E89E290690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3BC5E5-7F1E-90B2-4781-82799C65D5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7504B0-1F93-2C87-06DF-BF7842B463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C2DD6F-7232-4A39-BCBB-2F1194D87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3798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7117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02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02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102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2" y="571500"/>
            <a:ext cx="5486263" cy="331718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60383" y="558800"/>
            <a:ext cx="5486263" cy="254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1041374" y="990600"/>
            <a:ext cx="510527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20" dirty="0">
                <a:solidFill>
                  <a:srgbClr val="00000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GLOBAL MOBILIZATION · STRATEGY &amp; IMPACT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1374" y="1285606"/>
            <a:ext cx="4724282" cy="1042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kern="100" spc="-57" dirty="0">
                <a:solidFill>
                  <a:srgbClr val="000000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Climate Activism: Mobilizing for a Living Planet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41374" y="2509381"/>
            <a:ext cx="4724282" cy="699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Voices, frontline tactics, and the systemic pressure reshaping global governance.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41374" y="3339009"/>
            <a:ext cx="5105272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100" spc="100" dirty="0">
                <a:solidFill>
                  <a:srgbClr val="000000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EXECUTIVE BRIEFING · CLIMATE ACTION ANALYSIS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22358" y="6138466"/>
            <a:ext cx="5208953" cy="325437"/>
          </a:xfrm>
          <a:prstGeom prst="rect">
            <a:avLst/>
          </a:prstGeom>
          <a:solidFill>
            <a:srgbClr val="10281F">
              <a:alpha val="6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23956" y="6201966"/>
            <a:ext cx="510735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100" spc="100" dirty="0">
                <a:solidFill>
                  <a:srgbClr val="F2F5E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GLOBAL CLIMATE STRIKE ASSEMBLY · WORLDWIDE COALITION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4" grpId="2" animBg="1"/>
      <p:bldP spid="4" grpId="3" animBg="1"/>
      <p:bldP spid="5" grpId="0" animBg="1"/>
      <p:bldP spid="5" grpId="1" animBg="1"/>
      <p:bldP spid="5" grpId="2" animBg="1"/>
      <p:bldP spid="5" grpId="3" animBg="1"/>
      <p:bldP spid="6" grpId="0" animBg="1"/>
      <p:bldP spid="6" grpId="1" animBg="1"/>
      <p:bldP spid="6" grpId="2" animBg="1"/>
      <p:bldP spid="6" grpId="3" animBg="1"/>
      <p:bldP spid="7" grpId="0" animBg="1"/>
      <p:bldP spid="7" grpId="1" animBg="1"/>
      <p:bldP spid="7" grpId="2" animBg="1"/>
      <p:bldP spid="7" grpId="3" animBg="1"/>
      <p:bldP spid="9" grpId="0" animBg="1"/>
      <p:bldP spid="9" grpId="1" animBg="1"/>
      <p:bldP spid="9" grpId="2" animBg="1"/>
      <p:bldP spid="9" grpId="3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57200"/>
            <a:ext cx="711182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20" dirty="0">
                <a:solidFill>
                  <a:srgbClr val="AFC2B6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PLANETARY BASELINE · THE COST OF INACTION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09585" y="874911"/>
            <a:ext cx="6603736" cy="25400"/>
          </a:xfrm>
          <a:prstGeom prst="roundRect">
            <a:avLst>
              <a:gd name="adj" fmla="val 49999"/>
            </a:avLst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323320"/>
            <a:ext cx="6603835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45" dirty="0">
                <a:solidFill>
                  <a:srgbClr val="FFFFFF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Why We Mobilize: The Planetary Reality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3208" y="2193727"/>
            <a:ext cx="74322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b="1" kern="100" spc="-44" dirty="0">
                <a:solidFill>
                  <a:srgbClr val="F7CF3D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14010" y="2194997"/>
            <a:ext cx="5999409" cy="6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800" b="1" dirty="0">
                <a:solidFill>
                  <a:srgbClr val="F2F5E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1.5°C threshold:</a:t>
            </a:r>
            <a:r>
              <a:rPr lang="en-US" sz="180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 critical boundary for cascading climate risk.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3208" y="3858220"/>
            <a:ext cx="74322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b="1" kern="100" spc="-44" dirty="0">
                <a:solidFill>
                  <a:srgbClr val="F7CF3D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14010" y="3859490"/>
            <a:ext cx="5999409" cy="6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800" b="1" dirty="0">
                <a:solidFill>
                  <a:srgbClr val="F2F5E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Record extremes:</a:t>
            </a:r>
            <a:r>
              <a:rPr lang="en-US" sz="180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weather volatility is accelerating across continents.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3208" y="5522813"/>
            <a:ext cx="74322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b="1" kern="100" spc="-44" dirty="0">
                <a:solidFill>
                  <a:srgbClr val="F7CF3D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14010" y="5524083"/>
            <a:ext cx="5999409" cy="6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800" b="1" dirty="0">
                <a:solidFill>
                  <a:srgbClr val="F2F5E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Unequal burden:</a:t>
            </a:r>
            <a:r>
              <a:rPr lang="en-US" sz="180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frontline communities absorb a disproportionate share of damages.</a:t>
            </a:r>
            <a:endParaRPr lang="en-US" sz="18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975400" y="6029325"/>
            <a:ext cx="3911502" cy="523875"/>
          </a:xfrm>
          <a:prstGeom prst="rect">
            <a:avLst/>
          </a:prstGeom>
          <a:solidFill>
            <a:srgbClr val="10281F">
              <a:alpha val="62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8076998" y="6109891"/>
            <a:ext cx="3708307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100" spc="100" dirty="0">
                <a:solidFill>
                  <a:srgbClr val="F2F5E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FRONTLINE MONITORING STATION · ECOLOGICAL SURVEY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09585" y="3344664"/>
            <a:ext cx="6603835" cy="12700"/>
          </a:xfrm>
          <a:prstGeom prst="rect">
            <a:avLst/>
          </a:prstGeom>
          <a:solidFill>
            <a:srgbClr val="2A4A3C"/>
          </a:solidFill>
          <a:ln/>
        </p:spPr>
      </p:sp>
      <p:sp>
        <p:nvSpPr>
          <p:cNvPr id="15" name="Shape 12"/>
          <p:cNvSpPr/>
          <p:nvPr/>
        </p:nvSpPr>
        <p:spPr>
          <a:xfrm>
            <a:off x="609585" y="5009257"/>
            <a:ext cx="6603835" cy="12700"/>
          </a:xfrm>
          <a:prstGeom prst="rect">
            <a:avLst/>
          </a:prstGeom>
          <a:solidFill>
            <a:srgbClr val="2A4A3C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2" grpId="2" animBg="1"/>
      <p:bldP spid="2" grpId="3" animBg="1"/>
      <p:bldP spid="4" grpId="0" animBg="1"/>
      <p:bldP spid="4" grpId="1" animBg="1"/>
      <p:bldP spid="4" grpId="2" animBg="1"/>
      <p:bldP spid="4" grpId="3" animBg="1"/>
      <p:bldP spid="5" grpId="0" animBg="1"/>
      <p:bldP spid="5" grpId="1" animBg="1"/>
      <p:bldP spid="5" grpId="2" animBg="1"/>
      <p:bldP spid="5" grpId="3" animBg="1"/>
      <p:bldP spid="6" grpId="0" animBg="1"/>
      <p:bldP spid="6" grpId="1" animBg="1"/>
      <p:bldP spid="6" grpId="2" animBg="1"/>
      <p:bldP spid="6" grpId="3" animBg="1"/>
      <p:bldP spid="7" grpId="0" animBg="1"/>
      <p:bldP spid="7" grpId="1" animBg="1"/>
      <p:bldP spid="7" grpId="2" animBg="1"/>
      <p:bldP spid="7" grpId="3" animBg="1"/>
      <p:bldP spid="8" grpId="0" animBg="1"/>
      <p:bldP spid="8" grpId="1" animBg="1"/>
      <p:bldP spid="8" grpId="2" animBg="1"/>
      <p:bldP spid="8" grpId="3" animBg="1"/>
      <p:bldP spid="9" grpId="0" animBg="1"/>
      <p:bldP spid="9" grpId="1" animBg="1"/>
      <p:bldP spid="9" grpId="2" animBg="1"/>
      <p:bldP spid="9" grpId="3" animBg="1"/>
      <p:bldP spid="10" grpId="0" animBg="1"/>
      <p:bldP spid="10" grpId="1" animBg="1"/>
      <p:bldP spid="10" grpId="2" animBg="1"/>
      <p:bldP spid="10" grpId="3" animBg="1"/>
      <p:bldP spid="13" grpId="0" animBg="1"/>
      <p:bldP spid="13" grpId="1" animBg="1"/>
      <p:bldP spid="13" grpId="2" animBg="1"/>
      <p:bldP spid="13" grpId="3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24539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9585" y="665956"/>
            <a:ext cx="5771311" cy="325437"/>
          </a:xfrm>
          <a:prstGeom prst="rect">
            <a:avLst/>
          </a:prstGeom>
          <a:solidFill>
            <a:srgbClr val="10281F">
              <a:alpha val="6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11182" y="746522"/>
            <a:ext cx="566971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100" spc="100" dirty="0">
                <a:solidFill>
                  <a:srgbClr val="F2F5E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HISTORICAL TRANSITION FROM NEGOTIATION TO DISRUPTIVE ACTION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09585" y="1499394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20" dirty="0">
                <a:solidFill>
                  <a:srgbClr val="AFC2B6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STRATEGIC EVOLUTION · FIFTY YEARS OF MOBILIZATION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09585" y="1917105"/>
            <a:ext cx="10972526" cy="25400"/>
          </a:xfrm>
          <a:prstGeom prst="roundRect">
            <a:avLst>
              <a:gd name="adj" fmla="val 49999"/>
            </a:avLst>
          </a:prstGeom>
          <a:solidFill>
            <a:srgbClr val="F5C518"/>
          </a:solidFill>
          <a:ln/>
        </p:spPr>
      </p:sp>
      <p:sp>
        <p:nvSpPr>
          <p:cNvPr id="7" name="Text 4"/>
          <p:cNvSpPr/>
          <p:nvPr/>
        </p:nvSpPr>
        <p:spPr>
          <a:xfrm>
            <a:off x="609585" y="2365514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45" dirty="0">
                <a:solidFill>
                  <a:srgbClr val="FFFFFF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From Conservation to Direct Action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609585" y="4522192"/>
            <a:ext cx="10972526" cy="28575"/>
          </a:xfrm>
          <a:prstGeom prst="roundRect">
            <a:avLst>
              <a:gd name="adj" fmla="val 39999"/>
            </a:avLst>
          </a:prstGeom>
          <a:solidFill>
            <a:srgbClr val="486057"/>
          </a:solidFill>
          <a:ln/>
        </p:spPr>
      </p:sp>
      <p:sp>
        <p:nvSpPr>
          <p:cNvPr id="9" name="Shape 6"/>
          <p:cNvSpPr/>
          <p:nvPr/>
        </p:nvSpPr>
        <p:spPr>
          <a:xfrm>
            <a:off x="3274931" y="4115792"/>
            <a:ext cx="28574" cy="406400"/>
          </a:xfrm>
          <a:prstGeom prst="roundRect">
            <a:avLst>
              <a:gd name="adj" fmla="val 40000"/>
            </a:avLst>
          </a:prstGeom>
          <a:solidFill>
            <a:srgbClr val="486057"/>
          </a:solidFill>
          <a:ln/>
        </p:spPr>
      </p:sp>
      <p:sp>
        <p:nvSpPr>
          <p:cNvPr id="10" name="Shape 7"/>
          <p:cNvSpPr/>
          <p:nvPr/>
        </p:nvSpPr>
        <p:spPr>
          <a:xfrm>
            <a:off x="3213020" y="4445992"/>
            <a:ext cx="152396" cy="15240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1" name="Text 8"/>
          <p:cNvSpPr/>
          <p:nvPr/>
        </p:nvSpPr>
        <p:spPr>
          <a:xfrm>
            <a:off x="812780" y="2938264"/>
            <a:ext cx="4952876" cy="263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700" b="1" kern="100" spc="-34" dirty="0">
                <a:solidFill>
                  <a:srgbClr val="F2F5EF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1970s–1990s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12780" y="3323431"/>
            <a:ext cx="4952876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F2F5E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Conservation Era:</a:t>
            </a:r>
            <a:r>
              <a:rPr lang="en-US" sz="160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institutional awareness, international treaties, and wildlife protection reserves.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081560" y="4522192"/>
            <a:ext cx="28574" cy="406400"/>
          </a:xfrm>
          <a:prstGeom prst="roundRect">
            <a:avLst>
              <a:gd name="adj" fmla="val 40000"/>
            </a:avLst>
          </a:prstGeom>
          <a:solidFill>
            <a:srgbClr val="486057"/>
          </a:solidFill>
          <a:ln/>
        </p:spPr>
      </p:sp>
      <p:sp>
        <p:nvSpPr>
          <p:cNvPr id="14" name="Shape 11"/>
          <p:cNvSpPr/>
          <p:nvPr/>
        </p:nvSpPr>
        <p:spPr>
          <a:xfrm>
            <a:off x="6019649" y="4445992"/>
            <a:ext cx="152396" cy="15240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5" name="Text 12"/>
          <p:cNvSpPr/>
          <p:nvPr/>
        </p:nvSpPr>
        <p:spPr>
          <a:xfrm>
            <a:off x="3619409" y="5131792"/>
            <a:ext cx="4952876" cy="263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700" b="1" kern="100" spc="-34" dirty="0">
                <a:solidFill>
                  <a:srgbClr val="F2F5EF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2000s–2018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3619409" y="5516959"/>
            <a:ext cx="4952876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F2F5E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NGO &amp; Divestment:</a:t>
            </a:r>
            <a:r>
              <a:rPr lang="en-US" sz="160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grassroots campus fossil fuel divestment, carbon footprinting, and global NGO lobbying.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888190" y="4115792"/>
            <a:ext cx="28574" cy="406400"/>
          </a:xfrm>
          <a:prstGeom prst="roundRect">
            <a:avLst>
              <a:gd name="adj" fmla="val 40000"/>
            </a:avLst>
          </a:prstGeom>
          <a:solidFill>
            <a:srgbClr val="486057"/>
          </a:solidFill>
          <a:ln/>
        </p:spPr>
      </p:sp>
      <p:sp>
        <p:nvSpPr>
          <p:cNvPr id="18" name="Shape 15"/>
          <p:cNvSpPr/>
          <p:nvPr/>
        </p:nvSpPr>
        <p:spPr>
          <a:xfrm>
            <a:off x="8826279" y="4445992"/>
            <a:ext cx="152396" cy="15240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9" name="Text 16"/>
          <p:cNvSpPr/>
          <p:nvPr/>
        </p:nvSpPr>
        <p:spPr>
          <a:xfrm>
            <a:off x="6426039" y="2938264"/>
            <a:ext cx="4952876" cy="263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700" b="1" kern="100" spc="-34" dirty="0">
                <a:solidFill>
                  <a:srgbClr val="F5C518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2018–Present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426039" y="3323431"/>
            <a:ext cx="4952876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F2F5E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Mass Disruption:</a:t>
            </a:r>
            <a:r>
              <a:rPr lang="en-US" sz="160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youth-led school strikes, coordinated civil disobedience, and nonviolent disruption.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4" grpId="2" animBg="1"/>
      <p:bldP spid="4" grpId="3" animBg="1"/>
      <p:bldP spid="5" grpId="0" animBg="1"/>
      <p:bldP spid="5" grpId="1" animBg="1"/>
      <p:bldP spid="5" grpId="2" animBg="1"/>
      <p:bldP spid="5" grpId="3" animBg="1"/>
      <p:bldP spid="7" grpId="0" animBg="1"/>
      <p:bldP spid="7" grpId="1" animBg="1"/>
      <p:bldP spid="7" grpId="2" animBg="1"/>
      <p:bldP spid="7" grpId="3" animBg="1"/>
      <p:bldP spid="11" grpId="0" animBg="1"/>
      <p:bldP spid="11" grpId="1" animBg="1"/>
      <p:bldP spid="11" grpId="2" animBg="1"/>
      <p:bldP spid="11" grpId="3" animBg="1"/>
      <p:bldP spid="12" grpId="0" animBg="1"/>
      <p:bldP spid="12" grpId="1" animBg="1"/>
      <p:bldP spid="12" grpId="2" animBg="1"/>
      <p:bldP spid="12" grpId="3" animBg="1"/>
      <p:bldP spid="15" grpId="0" animBg="1"/>
      <p:bldP spid="15" grpId="1" animBg="1"/>
      <p:bldP spid="15" grpId="2" animBg="1"/>
      <p:bldP spid="15" grpId="3" animBg="1"/>
      <p:bldP spid="16" grpId="0" animBg="1"/>
      <p:bldP spid="16" grpId="1" animBg="1"/>
      <p:bldP spid="16" grpId="2" animBg="1"/>
      <p:bldP spid="16" grpId="3" animBg="1"/>
      <p:bldP spid="19" grpId="0" animBg="1"/>
      <p:bldP spid="19" grpId="1" animBg="1"/>
      <p:bldP spid="19" grpId="2" animBg="1"/>
      <p:bldP spid="19" grpId="3" animBg="1"/>
      <p:bldP spid="20" grpId="0" animBg="1"/>
      <p:bldP spid="20" grpId="1" animBg="1"/>
      <p:bldP spid="20" grpId="2" animBg="1"/>
      <p:bldP spid="20" grpId="3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76678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33867" y="608569"/>
            <a:ext cx="6248244" cy="25400"/>
          </a:xfrm>
          <a:prstGeom prst="roundRect">
            <a:avLst>
              <a:gd name="adj" fmla="val 49999"/>
            </a:avLst>
          </a:prstGeom>
          <a:solidFill>
            <a:srgbClr val="F5C518"/>
          </a:solidFill>
          <a:ln/>
        </p:spPr>
      </p:sp>
      <p:sp>
        <p:nvSpPr>
          <p:cNvPr id="4" name="Text 1"/>
          <p:cNvSpPr/>
          <p:nvPr/>
        </p:nvSpPr>
        <p:spPr>
          <a:xfrm>
            <a:off x="5333867" y="1056978"/>
            <a:ext cx="6248244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45" dirty="0">
                <a:solidFill>
                  <a:srgbClr val="FFFFFF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The Youth Vanguard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333867" y="2535388"/>
            <a:ext cx="19050" cy="1140420"/>
          </a:xfrm>
          <a:prstGeom prst="rect">
            <a:avLst/>
          </a:prstGeom>
          <a:solidFill>
            <a:srgbClr val="2A4A3C"/>
          </a:solidFill>
          <a:ln/>
        </p:spPr>
      </p:sp>
      <p:sp>
        <p:nvSpPr>
          <p:cNvPr id="6" name="Text 3"/>
          <p:cNvSpPr/>
          <p:nvPr/>
        </p:nvSpPr>
        <p:spPr>
          <a:xfrm>
            <a:off x="5705134" y="2814788"/>
            <a:ext cx="74322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b="1" kern="100" spc="-44" dirty="0">
                <a:solidFill>
                  <a:srgbClr val="F7CF3D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140296" y="2828599"/>
            <a:ext cx="5213220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F2F5E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Fridays for Future:</a:t>
            </a:r>
            <a:r>
              <a:rPr lang="en-US" sz="170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millions mobilizing across more than 150 nations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333867" y="3675808"/>
            <a:ext cx="19050" cy="1140420"/>
          </a:xfrm>
          <a:prstGeom prst="rect">
            <a:avLst/>
          </a:prstGeom>
          <a:solidFill>
            <a:srgbClr val="2A4A3C"/>
          </a:solidFill>
          <a:ln/>
        </p:spPr>
      </p:sp>
      <p:sp>
        <p:nvSpPr>
          <p:cNvPr id="9" name="Text 6"/>
          <p:cNvSpPr/>
          <p:nvPr/>
        </p:nvSpPr>
        <p:spPr>
          <a:xfrm>
            <a:off x="5705134" y="3955208"/>
            <a:ext cx="74322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b="1" kern="100" spc="-44" dirty="0">
                <a:solidFill>
                  <a:srgbClr val="F7CF3D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140296" y="3969020"/>
            <a:ext cx="5213220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F2F5E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Sunrise Movement:</a:t>
            </a:r>
            <a:r>
              <a:rPr lang="en-US" sz="170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bringing the Green New Deal into mainstream politics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333867" y="4816229"/>
            <a:ext cx="19050" cy="1140420"/>
          </a:xfrm>
          <a:prstGeom prst="rect">
            <a:avLst/>
          </a:prstGeom>
          <a:solidFill>
            <a:srgbClr val="2A4A3C"/>
          </a:solidFill>
          <a:ln/>
        </p:spPr>
      </p:sp>
      <p:sp>
        <p:nvSpPr>
          <p:cNvPr id="12" name="Text 9"/>
          <p:cNvSpPr/>
          <p:nvPr/>
        </p:nvSpPr>
        <p:spPr>
          <a:xfrm>
            <a:off x="5705134" y="5095629"/>
            <a:ext cx="74322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b="1" kern="100" spc="-44" dirty="0">
                <a:solidFill>
                  <a:srgbClr val="F7CF3D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140296" y="5109440"/>
            <a:ext cx="5213220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F2F5E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Indigenous youth:</a:t>
            </a:r>
            <a:r>
              <a:rPr lang="en-US" sz="170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leading land-defense and water-protection frontlines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333867" y="3669458"/>
            <a:ext cx="6248244" cy="12700"/>
          </a:xfrm>
          <a:prstGeom prst="rect">
            <a:avLst/>
          </a:prstGeom>
          <a:solidFill>
            <a:srgbClr val="2A4A3C"/>
          </a:solidFill>
          <a:ln/>
        </p:spPr>
      </p:sp>
      <p:sp>
        <p:nvSpPr>
          <p:cNvPr id="15" name="Shape 12"/>
          <p:cNvSpPr/>
          <p:nvPr/>
        </p:nvSpPr>
        <p:spPr>
          <a:xfrm>
            <a:off x="5333867" y="4809879"/>
            <a:ext cx="6248244" cy="12700"/>
          </a:xfrm>
          <a:prstGeom prst="rect">
            <a:avLst/>
          </a:prstGeom>
          <a:solidFill>
            <a:srgbClr val="2A4A3C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4" grpId="2" animBg="1"/>
      <p:bldP spid="4" grpId="3" animBg="1"/>
      <p:bldP spid="6" grpId="0" animBg="1"/>
      <p:bldP spid="6" grpId="1" animBg="1"/>
      <p:bldP spid="6" grpId="2" animBg="1"/>
      <p:bldP spid="6" grpId="3" animBg="1"/>
      <p:bldP spid="7" grpId="0" animBg="1"/>
      <p:bldP spid="7" grpId="1" animBg="1"/>
      <p:bldP spid="7" grpId="2" animBg="1"/>
      <p:bldP spid="7" grpId="3" animBg="1"/>
      <p:bldP spid="9" grpId="0" animBg="1"/>
      <p:bldP spid="9" grpId="1" animBg="1"/>
      <p:bldP spid="9" grpId="2" animBg="1"/>
      <p:bldP spid="9" grpId="3" animBg="1"/>
      <p:bldP spid="10" grpId="0" animBg="1"/>
      <p:bldP spid="10" grpId="1" animBg="1"/>
      <p:bldP spid="10" grpId="2" animBg="1"/>
      <p:bldP spid="10" grpId="3" animBg="1"/>
      <p:bldP spid="12" grpId="0" animBg="1"/>
      <p:bldP spid="12" grpId="1" animBg="1"/>
      <p:bldP spid="12" grpId="2" animBg="1"/>
      <p:bldP spid="12" grpId="3" animBg="1"/>
      <p:bldP spid="13" grpId="0" animBg="1"/>
      <p:bldP spid="13" grpId="1" animBg="1"/>
      <p:bldP spid="13" grpId="2" animBg="1"/>
      <p:bldP spid="13" grpId="3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60301"/>
            <a:ext cx="10972526" cy="25400"/>
          </a:xfrm>
          <a:prstGeom prst="roundRect">
            <a:avLst>
              <a:gd name="adj" fmla="val 49999"/>
            </a:avLst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110871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45" dirty="0">
                <a:solidFill>
                  <a:srgbClr val="FFFFFF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A Multi-Pronged Toolkit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2546648"/>
            <a:ext cx="5333867" cy="1173857"/>
          </a:xfrm>
          <a:prstGeom prst="rect">
            <a:avLst/>
          </a:prstGeom>
          <a:noFill/>
          <a:ln w="6350">
            <a:solidFill>
              <a:srgbClr val="2A4A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8152" y="2832398"/>
            <a:ext cx="74322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b="1" kern="100" spc="-44" dirty="0">
                <a:solidFill>
                  <a:srgbClr val="F7CF3D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03315" y="2801473"/>
            <a:ext cx="4305192" cy="263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Policy advocacy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03315" y="3198277"/>
            <a:ext cx="4540136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Lobbying, citizen assemblies, ballot measures.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48244" y="2546648"/>
            <a:ext cx="5333867" cy="1173857"/>
          </a:xfrm>
          <a:prstGeom prst="rect">
            <a:avLst/>
          </a:prstGeom>
          <a:noFill/>
          <a:ln w="6350">
            <a:solidFill>
              <a:srgbClr val="2A4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06811" y="2832398"/>
            <a:ext cx="74322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b="1" kern="100" spc="-44" dirty="0">
                <a:solidFill>
                  <a:srgbClr val="F7CF3D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041974" y="2801473"/>
            <a:ext cx="4305192" cy="263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Legal action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041974" y="3198277"/>
            <a:ext cx="4540136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Suing governments and fossil fuel corporations.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9585" y="4025305"/>
            <a:ext cx="5333867" cy="1173857"/>
          </a:xfrm>
          <a:prstGeom prst="rect">
            <a:avLst/>
          </a:prstGeom>
          <a:noFill/>
          <a:ln w="6350">
            <a:solidFill>
              <a:srgbClr val="2A4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8152" y="4311055"/>
            <a:ext cx="74322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b="1" kern="100" spc="-44" dirty="0">
                <a:solidFill>
                  <a:srgbClr val="F7CF3D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03315" y="4280130"/>
            <a:ext cx="4305192" cy="263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Strategic divestment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03315" y="4676934"/>
            <a:ext cx="4540136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Pulling capital from fossil assets.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48244" y="4025305"/>
            <a:ext cx="5333867" cy="1173857"/>
          </a:xfrm>
          <a:prstGeom prst="rect">
            <a:avLst/>
          </a:prstGeom>
          <a:noFill/>
          <a:ln w="6350">
            <a:solidFill>
              <a:srgbClr val="2A4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06811" y="4311055"/>
            <a:ext cx="74322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b="1" kern="100" spc="-44" dirty="0">
                <a:solidFill>
                  <a:srgbClr val="F7CF3D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041974" y="4280130"/>
            <a:ext cx="4305192" cy="263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Nonviolent civil disobedience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041974" y="4676934"/>
            <a:ext cx="4540136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Disruption that compels attention.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3" grpId="2" animBg="1"/>
      <p:bldP spid="3" grpId="3" animBg="1"/>
      <p:bldP spid="5" grpId="0" animBg="1"/>
      <p:bldP spid="5" grpId="1" animBg="1"/>
      <p:bldP spid="5" grpId="2" animBg="1"/>
      <p:bldP spid="5" grpId="3" animBg="1"/>
      <p:bldP spid="6" grpId="0" animBg="1"/>
      <p:bldP spid="6" grpId="1" animBg="1"/>
      <p:bldP spid="6" grpId="2" animBg="1"/>
      <p:bldP spid="6" grpId="3" animBg="1"/>
      <p:bldP spid="7" grpId="0" animBg="1"/>
      <p:bldP spid="7" grpId="1" animBg="1"/>
      <p:bldP spid="7" grpId="2" animBg="1"/>
      <p:bldP spid="7" grpId="3" animBg="1"/>
      <p:bldP spid="9" grpId="0" animBg="1"/>
      <p:bldP spid="9" grpId="1" animBg="1"/>
      <p:bldP spid="9" grpId="2" animBg="1"/>
      <p:bldP spid="9" grpId="3" animBg="1"/>
      <p:bldP spid="10" grpId="0" animBg="1"/>
      <p:bldP spid="10" grpId="1" animBg="1"/>
      <p:bldP spid="10" grpId="2" animBg="1"/>
      <p:bldP spid="10" grpId="3" animBg="1"/>
      <p:bldP spid="11" grpId="0" animBg="1"/>
      <p:bldP spid="11" grpId="1" animBg="1"/>
      <p:bldP spid="11" grpId="2" animBg="1"/>
      <p:bldP spid="11" grpId="3" animBg="1"/>
      <p:bldP spid="13" grpId="0" animBg="1"/>
      <p:bldP spid="13" grpId="1" animBg="1"/>
      <p:bldP spid="13" grpId="2" animBg="1"/>
      <p:bldP spid="13" grpId="3" animBg="1"/>
      <p:bldP spid="14" grpId="0" animBg="1"/>
      <p:bldP spid="14" grpId="1" animBg="1"/>
      <p:bldP spid="14" grpId="2" animBg="1"/>
      <p:bldP spid="14" grpId="3" animBg="1"/>
      <p:bldP spid="15" grpId="0" animBg="1"/>
      <p:bldP spid="15" grpId="1" animBg="1"/>
      <p:bldP spid="15" grpId="2" animBg="1"/>
      <p:bldP spid="15" grpId="3" animBg="1"/>
      <p:bldP spid="17" grpId="0" animBg="1"/>
      <p:bldP spid="17" grpId="1" animBg="1"/>
      <p:bldP spid="17" grpId="2" animBg="1"/>
      <p:bldP spid="17" grpId="3" animBg="1"/>
      <p:bldP spid="18" grpId="0" animBg="1"/>
      <p:bldP spid="18" grpId="1" animBg="1"/>
      <p:bldP spid="18" grpId="2" animBg="1"/>
      <p:bldP spid="18" grpId="3" animBg="1"/>
      <p:bldP spid="19" grpId="0" animBg="1"/>
      <p:bldP spid="19" grpId="1" animBg="1"/>
      <p:bldP spid="19" grpId="2" animBg="1"/>
      <p:bldP spid="19" grpId="3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1021" y="482600"/>
            <a:ext cx="5167977" cy="594360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01020" y="431800"/>
            <a:ext cx="5167977" cy="254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956612" y="1517887"/>
            <a:ext cx="4456795" cy="544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200" b="1" kern="100" spc="-126" dirty="0">
                <a:solidFill>
                  <a:srgbClr val="000000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80%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56612" y="2215672"/>
            <a:ext cx="4456795" cy="329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00" b="1" kern="100" spc="-36" dirty="0">
                <a:solidFill>
                  <a:srgbClr val="000000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Guardians of Global Biodiversity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56612" y="2738299"/>
            <a:ext cx="4456795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Indigenous sovereignty is a powerful conservation tool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56612" y="3784660"/>
            <a:ext cx="4456795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Rights of Nature legal frameworks are gaining traction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56612" y="4831021"/>
            <a:ext cx="4456795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Land defense confronts deforestation, pipelines, and extractive mining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56612" y="3542407"/>
            <a:ext cx="4456795" cy="12700"/>
          </a:xfrm>
          <a:prstGeom prst="rect">
            <a:avLst/>
          </a:prstGeom>
          <a:solidFill>
            <a:srgbClr val="2A4A3C"/>
          </a:solidFill>
          <a:ln/>
        </p:spPr>
      </p:sp>
      <p:sp>
        <p:nvSpPr>
          <p:cNvPr id="10" name="Shape 8"/>
          <p:cNvSpPr/>
          <p:nvPr/>
        </p:nvSpPr>
        <p:spPr>
          <a:xfrm>
            <a:off x="956612" y="4588768"/>
            <a:ext cx="4456795" cy="12700"/>
          </a:xfrm>
          <a:prstGeom prst="rect">
            <a:avLst/>
          </a:prstGeom>
          <a:solidFill>
            <a:srgbClr val="2A4A3C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4" grpId="2" animBg="1"/>
      <p:bldP spid="4" grpId="3" animBg="1"/>
      <p:bldP spid="5" grpId="0" animBg="1"/>
      <p:bldP spid="5" grpId="1" animBg="1"/>
      <p:bldP spid="5" grpId="2" animBg="1"/>
      <p:bldP spid="5" grpId="3" animBg="1"/>
      <p:bldP spid="6" grpId="0" animBg="1"/>
      <p:bldP spid="6" grpId="1" animBg="1"/>
      <p:bldP spid="6" grpId="2" animBg="1"/>
      <p:bldP spid="6" grpId="3" animBg="1"/>
      <p:bldP spid="7" grpId="0" animBg="1"/>
      <p:bldP spid="7" grpId="1" animBg="1"/>
      <p:bldP spid="7" grpId="2" animBg="1"/>
      <p:bldP spid="7" grpId="3" animBg="1"/>
      <p:bldP spid="8" grpId="0" animBg="1"/>
      <p:bldP spid="8" grpId="1" animBg="1"/>
      <p:bldP spid="8" grpId="2" animBg="1"/>
      <p:bldP spid="8" grpId="3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286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9585" y="1833563"/>
            <a:ext cx="5722993" cy="325437"/>
          </a:xfrm>
          <a:prstGeom prst="rect">
            <a:avLst/>
          </a:prstGeom>
          <a:solidFill>
            <a:srgbClr val="10281F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11182" y="1914128"/>
            <a:ext cx="5621395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100" spc="100" dirty="0">
                <a:solidFill>
                  <a:srgbClr val="F2F5E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GLOBAL DIVESTMENT DATABASE · FINANCIAL DISCLOSURE PROJECT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09585" y="2641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20" dirty="0">
                <a:solidFill>
                  <a:srgbClr val="AFC2B6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FINANCIAL LEVERAGE · BOARDROOMS &amp; CAPITAL MARKETS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09585" y="3059311"/>
            <a:ext cx="10972526" cy="25400"/>
          </a:xfrm>
          <a:prstGeom prst="roundRect">
            <a:avLst>
              <a:gd name="adj" fmla="val 49999"/>
            </a:avLst>
          </a:prstGeom>
          <a:solidFill>
            <a:srgbClr val="F5C518"/>
          </a:solidFill>
          <a:ln/>
        </p:spPr>
      </p:sp>
      <p:sp>
        <p:nvSpPr>
          <p:cNvPr id="7" name="Text 4"/>
          <p:cNvSpPr/>
          <p:nvPr/>
        </p:nvSpPr>
        <p:spPr>
          <a:xfrm>
            <a:off x="609585" y="350772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45" dirty="0">
                <a:solidFill>
                  <a:srgbClr val="FFFFFF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Shifting Capital: Divestment &amp; Shareholder Activism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09585" y="4817208"/>
            <a:ext cx="3428914" cy="544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200" b="1" kern="100" spc="-126" dirty="0">
                <a:solidFill>
                  <a:srgbClr val="FFFFFF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1,600+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609585" y="5524361"/>
            <a:ext cx="3428914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F2F5E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Institutions divested:</a:t>
            </a:r>
            <a:r>
              <a:rPr lang="en-US" sz="160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sovereign funds, endowments, and pensions stripping fossil assets.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495688" y="4817208"/>
            <a:ext cx="3200320" cy="544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200" b="1" kern="100" spc="-126" dirty="0">
                <a:solidFill>
                  <a:srgbClr val="FFFFFF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Proxy Battles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4495688" y="5524361"/>
            <a:ext cx="3200320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F2F5E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Boardroom votes:</a:t>
            </a:r>
            <a:r>
              <a:rPr lang="en-US" sz="160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activist slates securing board seats and mandating scope-3 transition plans.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153196" y="4817208"/>
            <a:ext cx="3428914" cy="544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200" b="1" kern="100" spc="-126" dirty="0">
                <a:solidFill>
                  <a:srgbClr val="FFFFFF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Stop-Funding</a:t>
            </a:r>
            <a:endParaRPr lang="en-US" sz="4200" dirty="0"/>
          </a:p>
        </p:txBody>
      </p:sp>
      <p:sp>
        <p:nvSpPr>
          <p:cNvPr id="13" name="Text 10"/>
          <p:cNvSpPr/>
          <p:nvPr/>
        </p:nvSpPr>
        <p:spPr>
          <a:xfrm>
            <a:off x="8153196" y="5524361"/>
            <a:ext cx="3428914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F2F5E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Bank campaigns:</a:t>
            </a:r>
            <a:r>
              <a:rPr lang="en-US" sz="160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targeting debt underwriting and cutting off project finance lines.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260743" y="4769842"/>
            <a:ext cx="12700" cy="1630958"/>
          </a:xfrm>
          <a:prstGeom prst="rect">
            <a:avLst/>
          </a:prstGeom>
          <a:solidFill>
            <a:srgbClr val="2A4A3C"/>
          </a:solidFill>
          <a:ln/>
        </p:spPr>
      </p:sp>
      <p:sp>
        <p:nvSpPr>
          <p:cNvPr id="15" name="Shape 12"/>
          <p:cNvSpPr/>
          <p:nvPr/>
        </p:nvSpPr>
        <p:spPr>
          <a:xfrm>
            <a:off x="7918252" y="4769842"/>
            <a:ext cx="12700" cy="1630958"/>
          </a:xfrm>
          <a:prstGeom prst="rect">
            <a:avLst/>
          </a:prstGeom>
          <a:solidFill>
            <a:srgbClr val="2A4A3C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4" grpId="2" animBg="1"/>
      <p:bldP spid="4" grpId="3" animBg="1"/>
      <p:bldP spid="5" grpId="0" animBg="1"/>
      <p:bldP spid="5" grpId="1" animBg="1"/>
      <p:bldP spid="5" grpId="2" animBg="1"/>
      <p:bldP spid="5" grpId="3" animBg="1"/>
      <p:bldP spid="7" grpId="0" animBg="1"/>
      <p:bldP spid="7" grpId="1" animBg="1"/>
      <p:bldP spid="7" grpId="2" animBg="1"/>
      <p:bldP spid="7" grpId="3" animBg="1"/>
      <p:bldP spid="8" grpId="0" animBg="1"/>
      <p:bldP spid="8" grpId="1" animBg="1"/>
      <p:bldP spid="8" grpId="2" animBg="1"/>
      <p:bldP spid="8" grpId="3" animBg="1"/>
      <p:bldP spid="9" grpId="0" animBg="1"/>
      <p:bldP spid="9" grpId="1" animBg="1"/>
      <p:bldP spid="9" grpId="2" animBg="1"/>
      <p:bldP spid="9" grpId="3" animBg="1"/>
      <p:bldP spid="10" grpId="0" animBg="1"/>
      <p:bldP spid="10" grpId="1" animBg="1"/>
      <p:bldP spid="10" grpId="2" animBg="1"/>
      <p:bldP spid="10" grpId="3" animBg="1"/>
      <p:bldP spid="11" grpId="0" animBg="1"/>
      <p:bldP spid="11" grpId="1" animBg="1"/>
      <p:bldP spid="11" grpId="2" animBg="1"/>
      <p:bldP spid="11" grpId="3" animBg="1"/>
      <p:bldP spid="12" grpId="0" animBg="1"/>
      <p:bldP spid="12" grpId="1" animBg="1"/>
      <p:bldP spid="12" grpId="2" animBg="1"/>
      <p:bldP spid="12" grpId="3" animBg="1"/>
      <p:bldP spid="13" grpId="0" animBg="1"/>
      <p:bldP spid="13" grpId="1" animBg="1"/>
      <p:bldP spid="13" grpId="2" animBg="1"/>
      <p:bldP spid="13" grpId="3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89268"/>
            <a:ext cx="11582110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kern="100" spc="72" dirty="0">
                <a:solidFill>
                  <a:srgbClr val="AFC2B6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CIVIC SPACE EROSION · LEGAL PERSECUTION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09585" y="988913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286966"/>
            <a:ext cx="10972526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000" b="1" dirty="0">
                <a:solidFill>
                  <a:schemeClr val="bg1">
                    <a:lumMod val="85000"/>
                  </a:schemeClr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The Cost of Confrontation: Protecting Frontline Defense</a:t>
            </a:r>
            <a:endParaRPr lang="en-US" sz="3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585" y="1871960"/>
            <a:ext cx="1158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AFC2B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As ecological breakdown accelerates, state statutes and corporate litigation are engineered to criminalize civil society.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585" y="2420441"/>
            <a:ext cx="3454314" cy="2544862"/>
          </a:xfrm>
          <a:prstGeom prst="rect">
            <a:avLst/>
          </a:prstGeom>
          <a:solidFill>
            <a:srgbClr val="183B2E"/>
          </a:solidFill>
          <a:ln w="6350">
            <a:solidFill>
              <a:srgbClr val="2A4A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4529" y="2687300"/>
            <a:ext cx="321936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66" dirty="0">
                <a:solidFill>
                  <a:srgbClr val="F5C518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CRITICAL THREAT 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4529" y="3014365"/>
            <a:ext cx="2984425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Anti-Protest Statutes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44529" y="3374648"/>
            <a:ext cx="2984425" cy="13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Critical infrastructure laws elevate nonviolent trespassing near pipelines and rail yards to felony sabotage, imposing decade-long prison penalties.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368691" y="2420441"/>
            <a:ext cx="3454314" cy="2544862"/>
          </a:xfrm>
          <a:prstGeom prst="rect">
            <a:avLst/>
          </a:prstGeom>
          <a:solidFill>
            <a:srgbClr val="183B2E"/>
          </a:solidFill>
          <a:ln w="6350">
            <a:solidFill>
              <a:srgbClr val="2A4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3635" y="2687300"/>
            <a:ext cx="321936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66" dirty="0">
                <a:solidFill>
                  <a:srgbClr val="F5C518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CRITICAL THREAT 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03635" y="3014365"/>
            <a:ext cx="2984425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SLAPP Intimidation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03635" y="3374648"/>
            <a:ext cx="2984425" cy="13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Extractive conglomerates deploy Strategic Lawsuits Against Public Participation to freeze movement capital, seize communications, and bankrupt grassroots NGOs.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127797" y="2420441"/>
            <a:ext cx="3454314" cy="2544862"/>
          </a:xfrm>
          <a:prstGeom prst="rect">
            <a:avLst/>
          </a:prstGeom>
          <a:solidFill>
            <a:srgbClr val="183B2E"/>
          </a:solidFill>
          <a:ln w="6350">
            <a:solidFill>
              <a:srgbClr val="2A4A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2741" y="2687300"/>
            <a:ext cx="321936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66" dirty="0">
                <a:solidFill>
                  <a:srgbClr val="F5C518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COUNTER-STRATEGY 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62741" y="3014365"/>
            <a:ext cx="2984425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Legal Defense Funds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62741" y="3374648"/>
            <a:ext cx="2984425" cy="13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Philanthropy must treat rapid-response bail funds, countersuits, and pro-bono defense networks as foundational movement infrastructure, not afterthoughts.</a:t>
            </a:r>
            <a:endParaRPr lang="en-US" sz="1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2" grpId="2" animBg="1"/>
      <p:bldP spid="2" grpId="3" animBg="1"/>
      <p:bldP spid="4" grpId="0" animBg="1"/>
      <p:bldP spid="4" grpId="1" animBg="1"/>
      <p:bldP spid="4" grpId="2" animBg="1"/>
      <p:bldP spid="4" grpId="3" animBg="1"/>
      <p:bldP spid="5" grpId="0" animBg="1"/>
      <p:bldP spid="5" grpId="1" animBg="1"/>
      <p:bldP spid="5" grpId="2" animBg="1"/>
      <p:bldP spid="5" grpId="3" animBg="1"/>
      <p:bldP spid="7" grpId="0" animBg="1"/>
      <p:bldP spid="7" grpId="1" animBg="1"/>
      <p:bldP spid="7" grpId="2" animBg="1"/>
      <p:bldP spid="7" grpId="3" animBg="1"/>
      <p:bldP spid="8" grpId="0" animBg="1"/>
      <p:bldP spid="8" grpId="1" animBg="1"/>
      <p:bldP spid="8" grpId="2" animBg="1"/>
      <p:bldP spid="8" grpId="3" animBg="1"/>
      <p:bldP spid="9" grpId="0" animBg="1"/>
      <p:bldP spid="9" grpId="1" animBg="1"/>
      <p:bldP spid="9" grpId="2" animBg="1"/>
      <p:bldP spid="9" grpId="3" animBg="1"/>
      <p:bldP spid="11" grpId="0" animBg="1"/>
      <p:bldP spid="11" grpId="1" animBg="1"/>
      <p:bldP spid="11" grpId="2" animBg="1"/>
      <p:bldP spid="11" grpId="3" animBg="1"/>
      <p:bldP spid="12" grpId="0" animBg="1"/>
      <p:bldP spid="12" grpId="1" animBg="1"/>
      <p:bldP spid="12" grpId="2" animBg="1"/>
      <p:bldP spid="12" grpId="3" animBg="1"/>
      <p:bldP spid="13" grpId="0" animBg="1"/>
      <p:bldP spid="13" grpId="1" animBg="1"/>
      <p:bldP spid="13" grpId="2" animBg="1"/>
      <p:bldP spid="13" grpId="3" animBg="1"/>
      <p:bldP spid="15" grpId="0" animBg="1"/>
      <p:bldP spid="15" grpId="1" animBg="1"/>
      <p:bldP spid="15" grpId="2" animBg="1"/>
      <p:bldP spid="15" grpId="3" animBg="1"/>
      <p:bldP spid="16" grpId="0" animBg="1"/>
      <p:bldP spid="16" grpId="1" animBg="1"/>
      <p:bldP spid="16" grpId="2" animBg="1"/>
      <p:bldP spid="16" grpId="3" animBg="1"/>
      <p:bldP spid="17" grpId="0" animBg="1"/>
      <p:bldP spid="17" grpId="1" animBg="1"/>
      <p:bldP spid="17" grpId="2" animBg="1"/>
      <p:bldP spid="17" grpId="3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06400"/>
            <a:ext cx="792460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20" dirty="0">
                <a:solidFill>
                  <a:srgbClr val="AFC2B6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JUDICIAL PRECEDENTS · STRATEGIC LEGAL ACTION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09585" y="824111"/>
            <a:ext cx="7467413" cy="25400"/>
          </a:xfrm>
          <a:prstGeom prst="roundRect">
            <a:avLst>
              <a:gd name="adj" fmla="val 49999"/>
            </a:avLst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272520"/>
            <a:ext cx="7467413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45" dirty="0">
                <a:solidFill>
                  <a:srgbClr val="FFFFFF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Taking Governments and Polluters to Court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549518"/>
              </p:ext>
            </p:extLst>
          </p:nvPr>
        </p:nvGraphicFramePr>
        <p:xfrm>
          <a:off x="609585" y="1864320"/>
          <a:ext cx="7467413" cy="3941167"/>
        </p:xfrm>
        <a:graphic>
          <a:graphicData uri="http://schemas.openxmlformats.org/drawingml/2006/table">
            <a:tbl>
              <a:tblPr/>
              <a:tblGrid>
                <a:gridCol w="1941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21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38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97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Case / Forum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Jurisdiction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Core Legal Precedent &amp; Outcome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35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2F5E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Held v. Montana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F2F5E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State Supreme Court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F2F5E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Enforced youth constitutional rights to a clean, healthful environment; invalidated fossil fuel exemption statutes.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89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2F5E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Urgenda v. Netherlands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F2F5E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Dutch Supreme Court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F2F5E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Established legally binding national emission reduction mandates under European human rights law.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89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2F5E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Corporate Liability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F2F5E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Global Courts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F2F5E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Demands civil damages and financial accountability for historical carbon emissions and deceptive lobbying.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6006802"/>
            <a:ext cx="7924602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100" spc="100" dirty="0">
                <a:solidFill>
                  <a:srgbClr val="F2F5E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SABIN CENTER FOR CLIMATE CHANGE LAW · COMPARATIVE LITIGATION REVIEW</a:t>
            </a:r>
            <a:endParaRPr lang="en-US" sz="12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187" y="0"/>
            <a:ext cx="3657509" cy="6858000"/>
          </a:xfrm>
          <a:prstGeom prst="rect">
            <a:avLst/>
          </a:prstGeom>
        </p:spPr>
      </p:pic>
      <p:sp>
        <p:nvSpPr>
          <p:cNvPr id="5" name="Shape 4"/>
          <p:cNvSpPr/>
          <p:nvPr/>
        </p:nvSpPr>
        <p:spPr>
          <a:xfrm>
            <a:off x="8737381" y="6054725"/>
            <a:ext cx="3200320" cy="523875"/>
          </a:xfrm>
          <a:prstGeom prst="rect">
            <a:avLst/>
          </a:prstGeom>
          <a:solidFill>
            <a:srgbClr val="10281F">
              <a:alpha val="62000"/>
            </a:srgbClr>
          </a:solidFill>
          <a:ln/>
        </p:spPr>
      </p:sp>
      <p:sp>
        <p:nvSpPr>
          <p:cNvPr id="9" name="Text 5"/>
          <p:cNvSpPr/>
          <p:nvPr/>
        </p:nvSpPr>
        <p:spPr>
          <a:xfrm>
            <a:off x="8838979" y="6135291"/>
            <a:ext cx="299712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100" spc="100" dirty="0">
                <a:solidFill>
                  <a:srgbClr val="F2F5E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HELENA COURTHOUSE · CLIMATE DOCKET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2" grpId="2" animBg="1"/>
      <p:bldP spid="2" grpId="3" animBg="1"/>
      <p:bldP spid="4" grpId="0" animBg="1"/>
      <p:bldP spid="4" grpId="1" animBg="1"/>
      <p:bldP spid="4" grpId="2" animBg="1"/>
      <p:bldP spid="4" grpId="3" animBg="1"/>
      <p:bldP spid="6" grpId="0" animBg="1"/>
      <p:bldP spid="6" grpId="1" animBg="1"/>
      <p:bldP spid="6" grpId="2" animBg="1"/>
      <p:bldP spid="6" grpId="3" animBg="1"/>
      <p:bldP spid="9" grpId="0" animBg="1"/>
      <p:bldP spid="9" grpId="1" animBg="1"/>
      <p:bldP spid="9" grpId="2" animBg="1"/>
      <p:bldP spid="9" grpId="3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318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20" dirty="0">
                <a:solidFill>
                  <a:srgbClr val="AFC2B6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STRATEGIC DIALECTIC · DEBATE WITHIN THE MOVEMENT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09585" y="849511"/>
            <a:ext cx="10972526" cy="25400"/>
          </a:xfrm>
          <a:prstGeom prst="roundRect">
            <a:avLst>
              <a:gd name="adj" fmla="val 49999"/>
            </a:avLst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29792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45" dirty="0">
                <a:solidFill>
                  <a:srgbClr val="FFFFFF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Friction Points Within Modern Activism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585" y="1897023"/>
            <a:ext cx="5587860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movement navigates continuous internal tension between tactical urgency and strategic coalition building.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585" y="2577009"/>
            <a:ext cx="5486263" cy="3801864"/>
          </a:xfrm>
          <a:prstGeom prst="rect">
            <a:avLst/>
          </a:prstGeom>
          <a:noFill/>
          <a:ln w="6350">
            <a:solidFill>
              <a:srgbClr val="2A4A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1526" y="2862759"/>
            <a:ext cx="512432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20" dirty="0">
                <a:solidFill>
                  <a:srgbClr val="F5C518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TENSION 01 · TACTICAL SPEED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71526" y="3155474"/>
            <a:ext cx="4762381" cy="309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Disruptive Direct Action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71526" y="3591381"/>
            <a:ext cx="4762381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High-profile disruptions force immediate news cycles and crisis visibility, but risk alienating broader mainstream public coalitions.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71526" y="4637683"/>
            <a:ext cx="4762381" cy="31651"/>
          </a:xfrm>
          <a:prstGeom prst="roundRect">
            <a:avLst>
              <a:gd name="adj" fmla="val 49998"/>
            </a:avLst>
          </a:prstGeom>
          <a:solidFill>
            <a:srgbClr val="2A4A3C"/>
          </a:solidFill>
          <a:ln/>
        </p:spPr>
      </p:sp>
      <p:sp>
        <p:nvSpPr>
          <p:cNvPr id="11" name="Text 9"/>
          <p:cNvSpPr/>
          <p:nvPr/>
        </p:nvSpPr>
        <p:spPr>
          <a:xfrm>
            <a:off x="971526" y="4902795"/>
            <a:ext cx="512432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20" dirty="0">
                <a:solidFill>
                  <a:srgbClr val="AFC2B6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COUNTER-PERSPECTIVE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71526" y="5188081"/>
            <a:ext cx="4762381" cy="263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Mass Coalition Building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71526" y="5584567"/>
            <a:ext cx="4762381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Focuses on patient, broad-based labor and municipal alliances to secure durable voting majorities.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5848" y="2577009"/>
            <a:ext cx="5486263" cy="3801864"/>
          </a:xfrm>
          <a:prstGeom prst="rect">
            <a:avLst/>
          </a:prstGeom>
          <a:noFill/>
          <a:ln w="6350">
            <a:solidFill>
              <a:srgbClr val="2A4A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7788" y="2862759"/>
            <a:ext cx="512432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20" dirty="0">
                <a:solidFill>
                  <a:srgbClr val="F5C518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TENSION 02 · LOCUS OF CHANGE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57788" y="3155474"/>
            <a:ext cx="4762381" cy="309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Individual Lifestyle Change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57788" y="3591381"/>
            <a:ext cx="4762381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Consumer choices, plant-based diets, and travel reduction cultivate personal moral buy-in, yet leave foundational infrastructure intact.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57788" y="4637683"/>
            <a:ext cx="4762381" cy="31651"/>
          </a:xfrm>
          <a:prstGeom prst="roundRect">
            <a:avLst>
              <a:gd name="adj" fmla="val 49998"/>
            </a:avLst>
          </a:prstGeom>
          <a:solidFill>
            <a:srgbClr val="2A4A3C"/>
          </a:solidFill>
          <a:ln/>
        </p:spPr>
      </p:sp>
      <p:sp>
        <p:nvSpPr>
          <p:cNvPr id="19" name="Text 17"/>
          <p:cNvSpPr/>
          <p:nvPr/>
        </p:nvSpPr>
        <p:spPr>
          <a:xfrm>
            <a:off x="6457788" y="4902795"/>
            <a:ext cx="512432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20" dirty="0">
                <a:solidFill>
                  <a:srgbClr val="AFC2B6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COUNTER-PERSPECTIVE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57788" y="5188081"/>
            <a:ext cx="4762381" cy="263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Structural Policy Reform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57788" y="5584567"/>
            <a:ext cx="4762381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Concentrates pressure on regulatory mandates, grid modernization, and dismantling fossil fuel subsidies.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083148" y="2577009"/>
            <a:ext cx="25399" cy="3801864"/>
          </a:xfrm>
          <a:prstGeom prst="rect">
            <a:avLst/>
          </a:prstGeom>
          <a:solidFill>
            <a:srgbClr val="10281F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2" grpId="2" animBg="1"/>
      <p:bldP spid="2" grpId="3" animBg="1"/>
      <p:bldP spid="4" grpId="0" animBg="1"/>
      <p:bldP spid="4" grpId="1" animBg="1"/>
      <p:bldP spid="4" grpId="2" animBg="1"/>
      <p:bldP spid="4" grpId="3" animBg="1"/>
      <p:bldP spid="5" grpId="0" animBg="1"/>
      <p:bldP spid="5" grpId="1" animBg="1"/>
      <p:bldP spid="5" grpId="2" animBg="1"/>
      <p:bldP spid="5" grpId="3" animBg="1"/>
      <p:bldP spid="7" grpId="0" animBg="1"/>
      <p:bldP spid="7" grpId="1" animBg="1"/>
      <p:bldP spid="7" grpId="2" animBg="1"/>
      <p:bldP spid="7" grpId="3" animBg="1"/>
      <p:bldP spid="8" grpId="0" animBg="1"/>
      <p:bldP spid="8" grpId="1" animBg="1"/>
      <p:bldP spid="8" grpId="2" animBg="1"/>
      <p:bldP spid="8" grpId="3" animBg="1"/>
      <p:bldP spid="9" grpId="0" animBg="1"/>
      <p:bldP spid="9" grpId="1" animBg="1"/>
      <p:bldP spid="9" grpId="2" animBg="1"/>
      <p:bldP spid="9" grpId="3" animBg="1"/>
      <p:bldP spid="11" grpId="0" animBg="1"/>
      <p:bldP spid="11" grpId="1" animBg="1"/>
      <p:bldP spid="11" grpId="2" animBg="1"/>
      <p:bldP spid="11" grpId="3" animBg="1"/>
      <p:bldP spid="12" grpId="0" animBg="1"/>
      <p:bldP spid="12" grpId="1" animBg="1"/>
      <p:bldP spid="12" grpId="2" animBg="1"/>
      <p:bldP spid="12" grpId="3" animBg="1"/>
      <p:bldP spid="13" grpId="0" animBg="1"/>
      <p:bldP spid="13" grpId="1" animBg="1"/>
      <p:bldP spid="13" grpId="2" animBg="1"/>
      <p:bldP spid="13" grpId="3" animBg="1"/>
      <p:bldP spid="15" grpId="0" animBg="1"/>
      <p:bldP spid="15" grpId="1" animBg="1"/>
      <p:bldP spid="15" grpId="2" animBg="1"/>
      <p:bldP spid="15" grpId="3" animBg="1"/>
      <p:bldP spid="16" grpId="0" animBg="1"/>
      <p:bldP spid="16" grpId="1" animBg="1"/>
      <p:bldP spid="16" grpId="2" animBg="1"/>
      <p:bldP spid="16" grpId="3" animBg="1"/>
      <p:bldP spid="17" grpId="0" animBg="1"/>
      <p:bldP spid="17" grpId="1" animBg="1"/>
      <p:bldP spid="17" grpId="2" animBg="1"/>
      <p:bldP spid="17" grpId="3" animBg="1"/>
      <p:bldP spid="19" grpId="0" animBg="1"/>
      <p:bldP spid="19" grpId="1" animBg="1"/>
      <p:bldP spid="19" grpId="2" animBg="1"/>
      <p:bldP spid="19" grpId="3" animBg="1"/>
      <p:bldP spid="20" grpId="0" animBg="1"/>
      <p:bldP spid="20" grpId="1" animBg="1"/>
      <p:bldP spid="20" grpId="2" animBg="1"/>
      <p:bldP spid="20" grpId="3" animBg="1"/>
      <p:bldP spid="21" grpId="0" animBg="1"/>
      <p:bldP spid="21" grpId="1" animBg="1"/>
      <p:bldP spid="21" grpId="2" animBg="1"/>
      <p:bldP spid="21" grpId="3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57200"/>
            <a:ext cx="711182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20" dirty="0">
                <a:solidFill>
                  <a:srgbClr val="AFC2B6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MEASURABLE OUTCOMES · THE ACTIVISM DIVIDEND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09585" y="874911"/>
            <a:ext cx="6603736" cy="25400"/>
          </a:xfrm>
          <a:prstGeom prst="roundRect">
            <a:avLst>
              <a:gd name="adj" fmla="val 49999"/>
            </a:avLst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323320"/>
            <a:ext cx="6603835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45" dirty="0">
                <a:solidFill>
                  <a:srgbClr val="FFFFFF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Real Impact: What Activism Has Achieved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3208" y="2359422"/>
            <a:ext cx="74322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b="1" kern="100" spc="-44" dirty="0">
                <a:solidFill>
                  <a:srgbClr val="F7CF3D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68371" y="2360692"/>
            <a:ext cx="6045049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80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Fossil infrastructure projects halted or cancelled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3208" y="4023916"/>
            <a:ext cx="74322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b="1" kern="100" spc="-44" dirty="0">
                <a:solidFill>
                  <a:srgbClr val="F7CF3D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68371" y="4025186"/>
            <a:ext cx="6045049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80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Net-zero commitments codified across major economies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3208" y="5688509"/>
            <a:ext cx="74322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b="1" kern="100" spc="-44" dirty="0">
                <a:solidFill>
                  <a:srgbClr val="F7CF3D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68371" y="5689779"/>
            <a:ext cx="6045049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80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Climate elevated to a top-tier voter priority</a:t>
            </a:r>
            <a:endParaRPr lang="en-US" sz="18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09585" y="3344664"/>
            <a:ext cx="6603835" cy="12700"/>
          </a:xfrm>
          <a:prstGeom prst="rect">
            <a:avLst/>
          </a:prstGeom>
          <a:solidFill>
            <a:srgbClr val="2A4A3C"/>
          </a:solidFill>
          <a:ln/>
        </p:spPr>
      </p:sp>
      <p:sp>
        <p:nvSpPr>
          <p:cNvPr id="13" name="Shape 10"/>
          <p:cNvSpPr/>
          <p:nvPr/>
        </p:nvSpPr>
        <p:spPr>
          <a:xfrm>
            <a:off x="609585" y="5009257"/>
            <a:ext cx="6603835" cy="12700"/>
          </a:xfrm>
          <a:prstGeom prst="rect">
            <a:avLst/>
          </a:prstGeom>
          <a:solidFill>
            <a:srgbClr val="2A4A3C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2" grpId="2" animBg="1"/>
      <p:bldP spid="2" grpId="3" animBg="1"/>
      <p:bldP spid="4" grpId="0" animBg="1"/>
      <p:bldP spid="4" grpId="1" animBg="1"/>
      <p:bldP spid="4" grpId="2" animBg="1"/>
      <p:bldP spid="4" grpId="3" animBg="1"/>
      <p:bldP spid="5" grpId="0" animBg="1"/>
      <p:bldP spid="5" grpId="1" animBg="1"/>
      <p:bldP spid="5" grpId="2" animBg="1"/>
      <p:bldP spid="5" grpId="3" animBg="1"/>
      <p:bldP spid="6" grpId="0" animBg="1"/>
      <p:bldP spid="6" grpId="1" animBg="1"/>
      <p:bldP spid="6" grpId="2" animBg="1"/>
      <p:bldP spid="6" grpId="3" animBg="1"/>
      <p:bldP spid="7" grpId="0" animBg="1"/>
      <p:bldP spid="7" grpId="1" animBg="1"/>
      <p:bldP spid="7" grpId="2" animBg="1"/>
      <p:bldP spid="7" grpId="3" animBg="1"/>
      <p:bldP spid="8" grpId="0" animBg="1"/>
      <p:bldP spid="8" grpId="1" animBg="1"/>
      <p:bldP spid="8" grpId="2" animBg="1"/>
      <p:bldP spid="8" grpId="3" animBg="1"/>
      <p:bldP spid="9" grpId="0" animBg="1"/>
      <p:bldP spid="9" grpId="1" animBg="1"/>
      <p:bldP spid="9" grpId="2" animBg="1"/>
      <p:bldP spid="9" grpId="3" animBg="1"/>
      <p:bldP spid="10" grpId="0" animBg="1"/>
      <p:bldP spid="10" grpId="1" animBg="1"/>
      <p:bldP spid="10" grpId="2" animBg="1"/>
      <p:bldP spid="10" grpId="3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268"/>
            <a:ext cx="7111822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kern="100" spc="72" dirty="0">
                <a:solidFill>
                  <a:srgbClr val="AFC2B6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STRATEGIC COALITIONS · SOLIDARITY ECONOMICS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09585" y="1115913"/>
            <a:ext cx="6654634" cy="31651"/>
          </a:xfrm>
          <a:prstGeom prst="roundRect">
            <a:avLst>
              <a:gd name="adj" fmla="val 49998"/>
            </a:avLst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418997"/>
            <a:ext cx="6654634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Bridges Across the Divide: Labor &amp; Climate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9585" y="2024360"/>
            <a:ext cx="6654634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AFC2B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Connecting organized worker power directly to the physical velocity of the energy transition.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585" y="2849463"/>
            <a:ext cx="6654634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b="1" dirty="0">
                <a:solidFill>
                  <a:srgbClr val="F5C518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BlueGreen Alliances</a:t>
            </a:r>
            <a:endParaRPr lang="en-US" sz="14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Align industrial trade unions with grassroots climate advocates to unlock legislative leverage.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585" y="4061162"/>
            <a:ext cx="6654634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b="1" dirty="0">
                <a:solidFill>
                  <a:srgbClr val="F5C518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Guaranteed Wage &amp; Benefit Parity</a:t>
            </a:r>
            <a:endParaRPr lang="en-US" sz="14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Protect legacy fossil-fuel workers with guaranteed wage floors, portable pensions, and retraining covenants.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9585" y="5139273"/>
            <a:ext cx="6654634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b="1" dirty="0">
                <a:solidFill>
                  <a:srgbClr val="F5C518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Unionized Clean Energy Supply Chains</a:t>
            </a:r>
            <a:endParaRPr lang="en-US" sz="14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Enforce project labor agreements across renewable manufacturing to make decarbonization politically irreversible.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09585" y="3895427"/>
            <a:ext cx="6654634" cy="12700"/>
          </a:xfrm>
          <a:prstGeom prst="rect">
            <a:avLst/>
          </a:prstGeom>
          <a:solidFill>
            <a:srgbClr val="2A4A3C"/>
          </a:solidFill>
          <a:ln/>
        </p:spPr>
      </p:sp>
      <p:sp>
        <p:nvSpPr>
          <p:cNvPr id="11" name="Shape 8"/>
          <p:cNvSpPr/>
          <p:nvPr/>
        </p:nvSpPr>
        <p:spPr>
          <a:xfrm>
            <a:off x="609585" y="4973538"/>
            <a:ext cx="6654634" cy="12700"/>
          </a:xfrm>
          <a:prstGeom prst="rect">
            <a:avLst/>
          </a:prstGeom>
          <a:solidFill>
            <a:srgbClr val="2A4A3C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2" grpId="2" animBg="1"/>
      <p:bldP spid="2" grpId="3" animBg="1"/>
      <p:bldP spid="4" grpId="0" animBg="1"/>
      <p:bldP spid="4" grpId="1" animBg="1"/>
      <p:bldP spid="4" grpId="2" animBg="1"/>
      <p:bldP spid="4" grpId="3" animBg="1"/>
      <p:bldP spid="5" grpId="0" animBg="1"/>
      <p:bldP spid="5" grpId="1" animBg="1"/>
      <p:bldP spid="5" grpId="2" animBg="1"/>
      <p:bldP spid="5" grpId="3" animBg="1"/>
      <p:bldP spid="6" grpId="0" animBg="1"/>
      <p:bldP spid="6" grpId="1" animBg="1"/>
      <p:bldP spid="6" grpId="2" animBg="1"/>
      <p:bldP spid="6" grpId="3" animBg="1"/>
      <p:bldP spid="7" grpId="0" animBg="1"/>
      <p:bldP spid="7" grpId="1" animBg="1"/>
      <p:bldP spid="7" grpId="2" animBg="1"/>
      <p:bldP spid="7" grpId="3" animBg="1"/>
      <p:bldP spid="8" grpId="0" animBg="1"/>
      <p:bldP spid="8" grpId="1" animBg="1"/>
      <p:bldP spid="8" grpId="2" animBg="1"/>
      <p:bldP spid="8" grpId="3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63868"/>
            <a:ext cx="11582110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kern="100" spc="72" dirty="0">
                <a:solidFill>
                  <a:srgbClr val="AFC2B6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AGROECOLOGY · BIODIVERSITY RESISTANCE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09585" y="963513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261566"/>
            <a:ext cx="10972526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Defending Soil, Seed, and Forest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585" y="1846560"/>
            <a:ext cx="1158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AFC2B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Ecological defense integrates food sovereignty, biological heritage, and carbon stewardship.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585" y="2420441"/>
            <a:ext cx="3454314" cy="2456061"/>
          </a:xfrm>
          <a:prstGeom prst="rect">
            <a:avLst/>
          </a:prstGeom>
          <a:solidFill>
            <a:srgbClr val="183B2E"/>
          </a:solidFill>
          <a:ln w="6350">
            <a:solidFill>
              <a:srgbClr val="2A4A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4529" y="2706191"/>
            <a:ext cx="797897" cy="208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01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44529" y="2997795"/>
            <a:ext cx="2984326" cy="1905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9" name="Text 7"/>
          <p:cNvSpPr/>
          <p:nvPr/>
        </p:nvSpPr>
        <p:spPr>
          <a:xfrm>
            <a:off x="844529" y="3167162"/>
            <a:ext cx="2984425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Resist Enclosure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44529" y="3527445"/>
            <a:ext cx="2984425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Halt industrial monoculture land-grabs and synthetic fertilizer runoff through collective communal land tenure and legal boundary defense.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368691" y="2420441"/>
            <a:ext cx="3454314" cy="2456061"/>
          </a:xfrm>
          <a:prstGeom prst="rect">
            <a:avLst/>
          </a:prstGeom>
          <a:solidFill>
            <a:srgbClr val="183B2E"/>
          </a:solidFill>
          <a:ln w="6350">
            <a:solidFill>
              <a:srgbClr val="2A4A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3635" y="2706191"/>
            <a:ext cx="842644" cy="208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02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4603635" y="2997795"/>
            <a:ext cx="2984326" cy="1905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4" name="Text 12"/>
          <p:cNvSpPr/>
          <p:nvPr/>
        </p:nvSpPr>
        <p:spPr>
          <a:xfrm>
            <a:off x="4603635" y="3167162"/>
            <a:ext cx="2984425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Seed Sovereignty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03635" y="3527445"/>
            <a:ext cx="2984425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Establish indigenous-governed seed banks to preserve heritage varietals resistant to severe drought without patented chemical dependency.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127797" y="2420441"/>
            <a:ext cx="3454314" cy="2456061"/>
          </a:xfrm>
          <a:prstGeom prst="rect">
            <a:avLst/>
          </a:prstGeom>
          <a:solidFill>
            <a:srgbClr val="183B2E"/>
          </a:solidFill>
          <a:ln w="6350">
            <a:solidFill>
              <a:srgbClr val="2A4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2741" y="2706191"/>
            <a:ext cx="838477" cy="208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03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8362741" y="2997795"/>
            <a:ext cx="2984326" cy="1905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9" name="Text 17"/>
          <p:cNvSpPr/>
          <p:nvPr/>
        </p:nvSpPr>
        <p:spPr>
          <a:xfrm>
            <a:off x="8362741" y="3167162"/>
            <a:ext cx="2984425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Canopy Agroforestry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62741" y="3527445"/>
            <a:ext cx="2984425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Scale perennial polycultures that sequester durable soil organic carbon while sustaining local economic yields and wildlife corridors.</a:t>
            </a:r>
            <a:endParaRPr lang="en-US" sz="1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2" grpId="2" animBg="1"/>
      <p:bldP spid="2" grpId="3" animBg="1"/>
      <p:bldP spid="4" grpId="0" animBg="1"/>
      <p:bldP spid="4" grpId="1" animBg="1"/>
      <p:bldP spid="4" grpId="2" animBg="1"/>
      <p:bldP spid="4" grpId="3" animBg="1"/>
      <p:bldP spid="5" grpId="0" animBg="1"/>
      <p:bldP spid="5" grpId="1" animBg="1"/>
      <p:bldP spid="5" grpId="2" animBg="1"/>
      <p:bldP spid="5" grpId="3" animBg="1"/>
      <p:bldP spid="7" grpId="0" animBg="1"/>
      <p:bldP spid="7" grpId="1" animBg="1"/>
      <p:bldP spid="7" grpId="2" animBg="1"/>
      <p:bldP spid="7" grpId="3" animBg="1"/>
      <p:bldP spid="9" grpId="0" animBg="1"/>
      <p:bldP spid="9" grpId="1" animBg="1"/>
      <p:bldP spid="9" grpId="2" animBg="1"/>
      <p:bldP spid="9" grpId="3" animBg="1"/>
      <p:bldP spid="10" grpId="0" animBg="1"/>
      <p:bldP spid="10" grpId="1" animBg="1"/>
      <p:bldP spid="10" grpId="2" animBg="1"/>
      <p:bldP spid="10" grpId="3" animBg="1"/>
      <p:bldP spid="12" grpId="0" animBg="1"/>
      <p:bldP spid="12" grpId="1" animBg="1"/>
      <p:bldP spid="12" grpId="2" animBg="1"/>
      <p:bldP spid="12" grpId="3" animBg="1"/>
      <p:bldP spid="14" grpId="0" animBg="1"/>
      <p:bldP spid="14" grpId="1" animBg="1"/>
      <p:bldP spid="14" grpId="2" animBg="1"/>
      <p:bldP spid="14" grpId="3" animBg="1"/>
      <p:bldP spid="15" grpId="0" animBg="1"/>
      <p:bldP spid="15" grpId="1" animBg="1"/>
      <p:bldP spid="15" grpId="2" animBg="1"/>
      <p:bldP spid="15" grpId="3" animBg="1"/>
      <p:bldP spid="17" grpId="0" animBg="1"/>
      <p:bldP spid="17" grpId="1" animBg="1"/>
      <p:bldP spid="17" grpId="2" animBg="1"/>
      <p:bldP spid="17" grpId="3" animBg="1"/>
      <p:bldP spid="19" grpId="0" animBg="1"/>
      <p:bldP spid="19" grpId="1" animBg="1"/>
      <p:bldP spid="19" grpId="2" animBg="1"/>
      <p:bldP spid="19" grpId="3" animBg="1"/>
      <p:bldP spid="20" grpId="0" animBg="1"/>
      <p:bldP spid="20" grpId="1" animBg="1"/>
      <p:bldP spid="20" grpId="2" animBg="1"/>
      <p:bldP spid="20" grpId="3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-41144"/>
            <a:ext cx="12191695" cy="311844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585" y="3328909"/>
            <a:ext cx="11582110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kern="100" spc="72" dirty="0">
                <a:solidFill>
                  <a:srgbClr val="AFC2B6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NARRATIVE HEGEMONY · CULTURAL MOBILIZATION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609585" y="3954959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F5C518"/>
          </a:solidFill>
          <a:ln/>
        </p:spPr>
      </p:sp>
      <p:sp>
        <p:nvSpPr>
          <p:cNvPr id="5" name="Text 2"/>
          <p:cNvSpPr/>
          <p:nvPr/>
        </p:nvSpPr>
        <p:spPr>
          <a:xfrm>
            <a:off x="609585" y="4197074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Winning the Battle for Attention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09585" y="4720372"/>
            <a:ext cx="3352716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900" b="1" dirty="0">
                <a:solidFill>
                  <a:srgbClr val="F7CF3D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Defeating PR Hegemony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09585" y="5070495"/>
            <a:ext cx="3352716" cy="13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Challenge multi-billion-dollar greenwashing campaigns and sports sponsorships by demanding total tobacco-style advertising bans on fossil fuels.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419489" y="4720372"/>
            <a:ext cx="3352716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900" b="1" dirty="0">
                <a:solidFill>
                  <a:srgbClr val="F7CF3D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Targeted Accountability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419489" y="5070495"/>
            <a:ext cx="3352716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Replace disempowering doomer narratives with visible, named corporate perpetrators, linking executive bonuses to ecological degradation.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229394" y="4720372"/>
            <a:ext cx="3352716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900" b="1" dirty="0">
                <a:solidFill>
                  <a:srgbClr val="F7CF3D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Digital Virality to Power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229394" y="5070495"/>
            <a:ext cx="3352716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Harness youth-led meme culture and decentralized digital streaming to convert passive viral impressions into sustained offline blockades.</a:t>
            </a:r>
            <a:endParaRPr lang="en-US" sz="1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3" grpId="2" animBg="1"/>
      <p:bldP spid="3" grpId="3" animBg="1"/>
      <p:bldP spid="5" grpId="0" animBg="1"/>
      <p:bldP spid="5" grpId="1" animBg="1"/>
      <p:bldP spid="5" grpId="2" animBg="1"/>
      <p:bldP spid="5" grpId="3" animBg="1"/>
      <p:bldP spid="6" grpId="0" animBg="1"/>
      <p:bldP spid="6" grpId="1" animBg="1"/>
      <p:bldP spid="6" grpId="2" animBg="1"/>
      <p:bldP spid="6" grpId="3" animBg="1"/>
      <p:bldP spid="7" grpId="0" animBg="1"/>
      <p:bldP spid="7" grpId="1" animBg="1"/>
      <p:bldP spid="7" grpId="2" animBg="1"/>
      <p:bldP spid="7" grpId="3" animBg="1"/>
      <p:bldP spid="8" grpId="0" animBg="1"/>
      <p:bldP spid="8" grpId="1" animBg="1"/>
      <p:bldP spid="8" grpId="2" animBg="1"/>
      <p:bldP spid="8" grpId="3" animBg="1"/>
      <p:bldP spid="9" grpId="0" animBg="1"/>
      <p:bldP spid="9" grpId="1" animBg="1"/>
      <p:bldP spid="9" grpId="2" animBg="1"/>
      <p:bldP spid="9" grpId="3" animBg="1"/>
      <p:bldP spid="10" grpId="0" animBg="1"/>
      <p:bldP spid="10" grpId="1" animBg="1"/>
      <p:bldP spid="10" grpId="2" animBg="1"/>
      <p:bldP spid="10" grpId="3" animBg="1"/>
      <p:bldP spid="11" grpId="0" animBg="1"/>
      <p:bldP spid="11" grpId="1" animBg="1"/>
      <p:bldP spid="11" grpId="2" animBg="1"/>
      <p:bldP spid="11" grpId="3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63868"/>
            <a:ext cx="11582110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kern="100" spc="72" dirty="0">
                <a:solidFill>
                  <a:srgbClr val="AFC2B6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CLIMATE JUSTICE · MULTILATERAL REDISTRIBUTION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09585" y="963513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236166"/>
            <a:ext cx="10972526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Frontline Sovereignty: The Global South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585" y="1821160"/>
            <a:ext cx="1158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AFC2B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Nations that contributed least to historic emissions require binding financial justice, not exploitative emergency loans.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609585" y="2344241"/>
          <a:ext cx="10972525" cy="2784604"/>
        </p:xfrm>
        <a:graphic>
          <a:graphicData uri="http://schemas.openxmlformats.org/drawingml/2006/table">
            <a:tbl>
              <a:tblPr/>
              <a:tblGrid>
                <a:gridCol w="2633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2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54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Mechanism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6206" marR="156206" marT="83310" marB="83310" anchor="ctr">
                    <a:lnL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Current Hurdle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6206" marR="156206" marT="83310" marB="83310" anchor="ctr">
                    <a:lnL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Frontline Sovereignty Imperative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6206" marR="156206" marT="83310" marB="83310" anchor="ctr">
                    <a:lnL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7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F7CF3D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Loss &amp; Damage Fund</a:t>
                      </a:r>
                      <a:endParaRPr lang="en-US" sz="145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6206" marR="156206" marT="83310" marB="83310" anchor="ctr">
                    <a:lnL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F5E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Voluntary pledges, World Bank fees, and bureaucratic delays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6206" marR="156206" marT="83310" marB="83310" anchor="ctr">
                    <a:lnL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F5E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Establish mandatory annual capital injections governed directly by affected Global South communities.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6206" marR="156206" marT="83310" marB="83310" anchor="ctr">
                    <a:lnL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F7CF3D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Debt-for-Climate Swaps</a:t>
                      </a:r>
                      <a:endParaRPr lang="en-US" sz="145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6206" marR="156206" marT="83310" marB="83310" anchor="ctr">
                    <a:lnL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F5E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High transaction costs and conditional structural adjustments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6206" marR="156206" marT="83310" marB="83310" anchor="ctr">
                    <a:lnL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F5E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Comprehensive debt cancellation tied to sovereign adaptation budgets to restore domestic fiscal headroom.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6206" marR="156206" marT="83310" marB="83310" anchor="ctr">
                    <a:lnL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20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F7CF3D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Reparations Architecture</a:t>
                      </a:r>
                      <a:endParaRPr lang="en-US" sz="145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6206" marR="156206" marT="83310" marB="83310" anchor="ctr">
                    <a:lnL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F5E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Framed as charitable foreign aid rather than legal liability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6206" marR="156206" marT="83310" marB="83310" anchor="ctr">
                    <a:lnL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F5E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Codify historic carbon debt obligations as non-repayable grant transfers led by Indigenous and island states.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56206" marR="156206" marT="83310" marB="83310" anchor="ctr">
                    <a:lnL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2" grpId="2" animBg="1"/>
      <p:bldP spid="2" grpId="3" animBg="1"/>
      <p:bldP spid="4" grpId="0" animBg="1"/>
      <p:bldP spid="4" grpId="1" animBg="1"/>
      <p:bldP spid="4" grpId="2" animBg="1"/>
      <p:bldP spid="4" grpId="3" animBg="1"/>
      <p:bldP spid="5" grpId="0" animBg="1"/>
      <p:bldP spid="5" grpId="1" animBg="1"/>
      <p:bldP spid="5" grpId="2" animBg="1"/>
      <p:bldP spid="5" grpId="3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7667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3867" y="540068"/>
            <a:ext cx="6857828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kern="100" spc="72" dirty="0">
                <a:solidFill>
                  <a:srgbClr val="AFC2B6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CIVIC INTELLIGENCE · DECENTRALIZED VERIFICATION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5333867" y="1039713"/>
            <a:ext cx="6349841" cy="31651"/>
          </a:xfrm>
          <a:prstGeom prst="roundRect">
            <a:avLst>
              <a:gd name="adj" fmla="val 49998"/>
            </a:avLst>
          </a:prstGeom>
          <a:solidFill>
            <a:srgbClr val="F5C518"/>
          </a:solidFill>
          <a:ln/>
        </p:spPr>
      </p:sp>
      <p:sp>
        <p:nvSpPr>
          <p:cNvPr id="5" name="Text 2"/>
          <p:cNvSpPr/>
          <p:nvPr/>
        </p:nvSpPr>
        <p:spPr>
          <a:xfrm>
            <a:off x="5333867" y="1332629"/>
            <a:ext cx="6349841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High-Tech Accountability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333867" y="1894900"/>
            <a:ext cx="6349841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AFC2B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Grassroots coalitions deploy advanced technological infrastructure to pierce industrial opacity.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333867" y="2828696"/>
            <a:ext cx="634984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F7CF3D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Satellite Methane Tracking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333867" y="3167519"/>
            <a:ext cx="6349841" cy="497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5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Independent microsatellite constellations expose unreported super-emitter leaks in real time, bypassing state and corporate monitoring blackouts.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333867" y="3988365"/>
            <a:ext cx="634984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F7CF3D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Citizen Sensor Mesh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333867" y="4327188"/>
            <a:ext cx="6349841" cy="497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5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Low-cost particulate monitors in fence-line neighborhoods aggregate ground-truth pollution logs, delivering legally admissible evidence to regional courts.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333867" y="5148033"/>
            <a:ext cx="634984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F7CF3D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Encrypted Coordination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333867" y="5486856"/>
            <a:ext cx="6349841" cy="497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5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Zero-knowledge identity protocols and decentralized communication stacks protect movement organizers against unlawful digital surveillance.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333867" y="3806130"/>
            <a:ext cx="6349841" cy="12700"/>
          </a:xfrm>
          <a:prstGeom prst="rect">
            <a:avLst/>
          </a:prstGeom>
          <a:solidFill>
            <a:srgbClr val="2A4A3C"/>
          </a:solidFill>
          <a:ln/>
        </p:spPr>
      </p:sp>
      <p:sp>
        <p:nvSpPr>
          <p:cNvPr id="14" name="Shape 11"/>
          <p:cNvSpPr/>
          <p:nvPr/>
        </p:nvSpPr>
        <p:spPr>
          <a:xfrm>
            <a:off x="5333867" y="4965799"/>
            <a:ext cx="6349841" cy="12700"/>
          </a:xfrm>
          <a:prstGeom prst="rect">
            <a:avLst/>
          </a:prstGeom>
          <a:solidFill>
            <a:srgbClr val="2A4A3C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3" grpId="2" animBg="1"/>
      <p:bldP spid="3" grpId="3" animBg="1"/>
      <p:bldP spid="5" grpId="0" animBg="1"/>
      <p:bldP spid="5" grpId="1" animBg="1"/>
      <p:bldP spid="5" grpId="2" animBg="1"/>
      <p:bldP spid="5" grpId="3" animBg="1"/>
      <p:bldP spid="6" grpId="0" animBg="1"/>
      <p:bldP spid="6" grpId="1" animBg="1"/>
      <p:bldP spid="6" grpId="2" animBg="1"/>
      <p:bldP spid="6" grpId="3" animBg="1"/>
      <p:bldP spid="7" grpId="0" animBg="1"/>
      <p:bldP spid="7" grpId="1" animBg="1"/>
      <p:bldP spid="7" grpId="2" animBg="1"/>
      <p:bldP spid="7" grpId="3" animBg="1"/>
      <p:bldP spid="8" grpId="0" animBg="1"/>
      <p:bldP spid="8" grpId="1" animBg="1"/>
      <p:bldP spid="8" grpId="2" animBg="1"/>
      <p:bldP spid="8" grpId="3" animBg="1"/>
      <p:bldP spid="9" grpId="0" animBg="1"/>
      <p:bldP spid="9" grpId="1" animBg="1"/>
      <p:bldP spid="9" grpId="2" animBg="1"/>
      <p:bldP spid="9" grpId="3" animBg="1"/>
      <p:bldP spid="10" grpId="0" animBg="1"/>
      <p:bldP spid="10" grpId="1" animBg="1"/>
      <p:bldP spid="10" grpId="2" animBg="1"/>
      <p:bldP spid="10" grpId="3" animBg="1"/>
      <p:bldP spid="11" grpId="0" animBg="1"/>
      <p:bldP spid="11" grpId="1" animBg="1"/>
      <p:bldP spid="11" grpId="2" animBg="1"/>
      <p:bldP spid="11" grpId="3" animBg="1"/>
      <p:bldP spid="12" grpId="0" animBg="1"/>
      <p:bldP spid="12" grpId="1" animBg="1"/>
      <p:bldP spid="12" grpId="2" animBg="1"/>
      <p:bldP spid="12" grpId="3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40068"/>
            <a:ext cx="7111822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kern="100" spc="72" dirty="0">
                <a:solidFill>
                  <a:srgbClr val="AFC2B6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CIVIC INFRASTRUCTURE · COMMUNITY ADAPTATION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09585" y="1039713"/>
            <a:ext cx="6654634" cy="31651"/>
          </a:xfrm>
          <a:prstGeom prst="roundRect">
            <a:avLst>
              <a:gd name="adj" fmla="val 49998"/>
            </a:avLst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337766"/>
            <a:ext cx="665463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Resilience from the Ground Up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585" y="1922760"/>
            <a:ext cx="6654634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AFC2B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While macro-policy stalls, local communities are engineering immediate survival systems.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585" y="2872550"/>
            <a:ext cx="66546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F7CF3D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Solar Microgrids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585" y="3213834"/>
            <a:ext cx="6654634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Community-owned rooftop solar paired with battery storage powers life-critical clinics and cooling hubs during centralized grid collapses.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9585" y="4050674"/>
            <a:ext cx="66546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F7CF3D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Rapid Mutual Aid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585" y="4391958"/>
            <a:ext cx="6654634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Decentralized neighborhood networks distribute potable water, food, and emergency medical kits days before bureaucratic disaster agencies mobilize.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585" y="5228797"/>
            <a:ext cx="66546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F7CF3D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Urban Thermal Refugia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9585" y="5570081"/>
            <a:ext cx="6654634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Community shade canopies, reflective roof coatings, and pocket wetlands reduce local heat-island exposure by up to 6°C across redlined districts.</a:t>
            </a:r>
            <a:endParaRPr lang="en-US" sz="14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09585" y="3868440"/>
            <a:ext cx="6654634" cy="12700"/>
          </a:xfrm>
          <a:prstGeom prst="rect">
            <a:avLst/>
          </a:prstGeom>
          <a:solidFill>
            <a:srgbClr val="2A4A3C"/>
          </a:solidFill>
          <a:ln/>
        </p:spPr>
      </p:sp>
      <p:sp>
        <p:nvSpPr>
          <p:cNvPr id="14" name="Shape 11"/>
          <p:cNvSpPr/>
          <p:nvPr/>
        </p:nvSpPr>
        <p:spPr>
          <a:xfrm>
            <a:off x="609585" y="5046563"/>
            <a:ext cx="6654634" cy="12700"/>
          </a:xfrm>
          <a:prstGeom prst="rect">
            <a:avLst/>
          </a:prstGeom>
          <a:solidFill>
            <a:srgbClr val="2A4A3C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2" grpId="2" animBg="1"/>
      <p:bldP spid="2" grpId="3" animBg="1"/>
      <p:bldP spid="4" grpId="0" animBg="1"/>
      <p:bldP spid="4" grpId="1" animBg="1"/>
      <p:bldP spid="4" grpId="2" animBg="1"/>
      <p:bldP spid="4" grpId="3" animBg="1"/>
      <p:bldP spid="5" grpId="0" animBg="1"/>
      <p:bldP spid="5" grpId="1" animBg="1"/>
      <p:bldP spid="5" grpId="2" animBg="1"/>
      <p:bldP spid="5" grpId="3" animBg="1"/>
      <p:bldP spid="6" grpId="0" animBg="1"/>
      <p:bldP spid="6" grpId="1" animBg="1"/>
      <p:bldP spid="6" grpId="2" animBg="1"/>
      <p:bldP spid="6" grpId="3" animBg="1"/>
      <p:bldP spid="7" grpId="0" animBg="1"/>
      <p:bldP spid="7" grpId="1" animBg="1"/>
      <p:bldP spid="7" grpId="2" animBg="1"/>
      <p:bldP spid="7" grpId="3" animBg="1"/>
      <p:bldP spid="8" grpId="0" animBg="1"/>
      <p:bldP spid="8" grpId="1" animBg="1"/>
      <p:bldP spid="8" grpId="2" animBg="1"/>
      <p:bldP spid="8" grpId="3" animBg="1"/>
      <p:bldP spid="9" grpId="0" animBg="1"/>
      <p:bldP spid="9" grpId="1" animBg="1"/>
      <p:bldP spid="9" grpId="2" animBg="1"/>
      <p:bldP spid="9" grpId="3" animBg="1"/>
      <p:bldP spid="10" grpId="0" animBg="1"/>
      <p:bldP spid="10" grpId="1" animBg="1"/>
      <p:bldP spid="10" grpId="2" animBg="1"/>
      <p:bldP spid="10" grpId="3" animBg="1"/>
      <p:bldP spid="11" grpId="0" animBg="1"/>
      <p:bldP spid="11" grpId="1" animBg="1"/>
      <p:bldP spid="11" grpId="2" animBg="1"/>
      <p:bldP spid="11" grpId="3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89268"/>
            <a:ext cx="11582110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kern="100" spc="72" dirty="0">
                <a:solidFill>
                  <a:srgbClr val="AFC2B6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MARKET INTEGRITY · CORPORATE DISCLOSURE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09585" y="988913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286966"/>
            <a:ext cx="10972526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Dismantling Corporate Illusion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585" y="1871960"/>
            <a:ext cx="1158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AFC2B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Targeting accounting loopholes, fraudulent offsets, and unscientific net-zero PR strategies.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585" y="2420441"/>
            <a:ext cx="3454314" cy="2498725"/>
          </a:xfrm>
          <a:prstGeom prst="rect">
            <a:avLst/>
          </a:prstGeom>
          <a:solidFill>
            <a:srgbClr val="183B2E"/>
          </a:solidFill>
          <a:ln w="6350">
            <a:solidFill>
              <a:srgbClr val="2A4A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4529" y="2687300"/>
            <a:ext cx="321936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66" dirty="0">
                <a:solidFill>
                  <a:srgbClr val="F7CF3D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AUDIT 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4529" y="3014365"/>
            <a:ext cx="2984425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Phantom Offsets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44529" y="3376950"/>
            <a:ext cx="2984425" cy="1288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Voluntary carbon registries routinely credit non-additional forests. Activist investigations push exchanges to delist junk credits and enforce real abatement.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68691" y="2420441"/>
            <a:ext cx="3454314" cy="2498725"/>
          </a:xfrm>
          <a:prstGeom prst="rect">
            <a:avLst/>
          </a:prstGeom>
          <a:solidFill>
            <a:srgbClr val="183B2E"/>
          </a:solidFill>
          <a:ln w="6350">
            <a:solidFill>
              <a:srgbClr val="2A4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3635" y="2687300"/>
            <a:ext cx="321936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66" dirty="0">
                <a:solidFill>
                  <a:srgbClr val="F5C518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AUDIT 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03635" y="3014365"/>
            <a:ext cx="2984425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2030 Interim Roadmaps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03635" y="3376950"/>
            <a:ext cx="2984425" cy="1288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Reject aspirational 2050 targets detached from immediate capex budgets. Mandatory 2030 milestones expose whether corporations are investing or stalling.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27797" y="2420441"/>
            <a:ext cx="3454314" cy="2498725"/>
          </a:xfrm>
          <a:prstGeom prst="rect">
            <a:avLst/>
          </a:prstGeom>
          <a:solidFill>
            <a:srgbClr val="183B2E"/>
          </a:solidFill>
          <a:ln w="6350">
            <a:solidFill>
              <a:srgbClr val="2A4A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2741" y="2687300"/>
            <a:ext cx="321936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66" dirty="0">
                <a:solidFill>
                  <a:srgbClr val="F5C518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AUDIT 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62741" y="3014365"/>
            <a:ext cx="2984425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Regulatory Sanctions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62741" y="3376950"/>
            <a:ext cx="2984425" cy="1288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Compel securities commissions and consumer protection bureaus to treat misleading climate advertising as securities fraud and unlawful market distortion.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2" grpId="2" animBg="1"/>
      <p:bldP spid="2" grpId="3" animBg="1"/>
      <p:bldP spid="4" grpId="0" animBg="1"/>
      <p:bldP spid="4" grpId="1" animBg="1"/>
      <p:bldP spid="4" grpId="2" animBg="1"/>
      <p:bldP spid="4" grpId="3" animBg="1"/>
      <p:bldP spid="5" grpId="0" animBg="1"/>
      <p:bldP spid="5" grpId="1" animBg="1"/>
      <p:bldP spid="5" grpId="2" animBg="1"/>
      <p:bldP spid="5" grpId="3" animBg="1"/>
      <p:bldP spid="7" grpId="0" animBg="1"/>
      <p:bldP spid="7" grpId="1" animBg="1"/>
      <p:bldP spid="7" grpId="2" animBg="1"/>
      <p:bldP spid="7" grpId="3" animBg="1"/>
      <p:bldP spid="8" grpId="0" animBg="1"/>
      <p:bldP spid="8" grpId="1" animBg="1"/>
      <p:bldP spid="8" grpId="2" animBg="1"/>
      <p:bldP spid="8" grpId="3" animBg="1"/>
      <p:bldP spid="9" grpId="0" animBg="1"/>
      <p:bldP spid="9" grpId="1" animBg="1"/>
      <p:bldP spid="9" grpId="2" animBg="1"/>
      <p:bldP spid="9" grpId="3" animBg="1"/>
      <p:bldP spid="11" grpId="0" animBg="1"/>
      <p:bldP spid="11" grpId="1" animBg="1"/>
      <p:bldP spid="11" grpId="2" animBg="1"/>
      <p:bldP spid="11" grpId="3" animBg="1"/>
      <p:bldP spid="12" grpId="0" animBg="1"/>
      <p:bldP spid="12" grpId="1" animBg="1"/>
      <p:bldP spid="12" grpId="2" animBg="1"/>
      <p:bldP spid="12" grpId="3" animBg="1"/>
      <p:bldP spid="13" grpId="0" animBg="1"/>
      <p:bldP spid="13" grpId="1" animBg="1"/>
      <p:bldP spid="13" grpId="2" animBg="1"/>
      <p:bldP spid="13" grpId="3" animBg="1"/>
      <p:bldP spid="15" grpId="0" animBg="1"/>
      <p:bldP spid="15" grpId="1" animBg="1"/>
      <p:bldP spid="15" grpId="2" animBg="1"/>
      <p:bldP spid="15" grpId="3" animBg="1"/>
      <p:bldP spid="16" grpId="0" animBg="1"/>
      <p:bldP spid="16" grpId="1" animBg="1"/>
      <p:bldP spid="16" grpId="2" animBg="1"/>
      <p:bldP spid="16" grpId="3" animBg="1"/>
      <p:bldP spid="17" grpId="0" animBg="1"/>
      <p:bldP spid="17" grpId="1" animBg="1"/>
      <p:bldP spid="17" grpId="2" animBg="1"/>
      <p:bldP spid="17" grpId="3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35C34ABB-E7A5-DEFD-1BF8-D961DF4EE2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368" y="2354833"/>
            <a:ext cx="2545293" cy="1449234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09585" y="362268"/>
            <a:ext cx="11582110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kern="100" spc="72" dirty="0">
                <a:solidFill>
                  <a:srgbClr val="AFC2B6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STRATEGIC HORIZON · CRITICAL PATHWAYS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09585" y="861913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159966"/>
            <a:ext cx="10972526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The Critical Decade Ahead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534" y="3156744"/>
            <a:ext cx="520687" cy="5207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3937794"/>
            <a:ext cx="3428914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2026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09585" y="4305800"/>
            <a:ext cx="3428914" cy="603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65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Litigation triggers and civic-defense capacity.</a:t>
            </a:r>
            <a:endParaRPr lang="en-US" sz="16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5688" y="3156744"/>
            <a:ext cx="520687" cy="5207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95688" y="3937794"/>
            <a:ext cx="320032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2028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4495688" y="4305800"/>
            <a:ext cx="3200320" cy="603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65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Subsidy repeal and coalition pressure.</a:t>
            </a:r>
            <a:endParaRPr lang="en-US" sz="16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3196" y="3156744"/>
            <a:ext cx="520687" cy="5207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53196" y="3937794"/>
            <a:ext cx="3428914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2030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8153196" y="4305800"/>
            <a:ext cx="3428914" cy="603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65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Grid decarbonization thresholds and accountability.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4260743" y="3156744"/>
            <a:ext cx="12700" cy="174267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5" name="Shape 10"/>
          <p:cNvSpPr/>
          <p:nvPr/>
        </p:nvSpPr>
        <p:spPr>
          <a:xfrm>
            <a:off x="7918252" y="3156744"/>
            <a:ext cx="12700" cy="1742678"/>
          </a:xfrm>
          <a:prstGeom prst="rect">
            <a:avLst/>
          </a:prstGeom>
          <a:solidFill>
            <a:srgbClr val="F5C518"/>
          </a:solidFill>
          <a:ln/>
        </p:spPr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BF124F8-309D-4AD4-5C8C-DE95CC2EE3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3675" y="2285064"/>
            <a:ext cx="2754802" cy="151900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7C5D20A-10DD-E86E-553C-10B33F63FA0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66"/>
          <a:stretch>
            <a:fillRect/>
          </a:stretch>
        </p:blipFill>
        <p:spPr>
          <a:xfrm>
            <a:off x="8693491" y="2326733"/>
            <a:ext cx="3047924" cy="144568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2" grpId="2" animBg="1"/>
      <p:bldP spid="2" grpId="3" animBg="1"/>
      <p:bldP spid="4" grpId="0" animBg="1"/>
      <p:bldP spid="4" grpId="1" animBg="1"/>
      <p:bldP spid="4" grpId="2" animBg="1"/>
      <p:bldP spid="4" grpId="3" animBg="1"/>
      <p:bldP spid="6" grpId="0" animBg="1"/>
      <p:bldP spid="6" grpId="1" animBg="1"/>
      <p:bldP spid="6" grpId="2" animBg="1"/>
      <p:bldP spid="6" grpId="3" animBg="1"/>
      <p:bldP spid="7" grpId="0" animBg="1"/>
      <p:bldP spid="7" grpId="1" animBg="1"/>
      <p:bldP spid="7" grpId="2" animBg="1"/>
      <p:bldP spid="7" grpId="3" animBg="1"/>
      <p:bldP spid="9" grpId="0" animBg="1"/>
      <p:bldP spid="9" grpId="1" animBg="1"/>
      <p:bldP spid="9" grpId="2" animBg="1"/>
      <p:bldP spid="9" grpId="3" animBg="1"/>
      <p:bldP spid="10" grpId="0" animBg="1"/>
      <p:bldP spid="10" grpId="1" animBg="1"/>
      <p:bldP spid="10" grpId="2" animBg="1"/>
      <p:bldP spid="10" grpId="3" animBg="1"/>
      <p:bldP spid="12" grpId="0" animBg="1"/>
      <p:bldP spid="12" grpId="1" animBg="1"/>
      <p:bldP spid="12" grpId="2" animBg="1"/>
      <p:bldP spid="12" grpId="3" animBg="1"/>
      <p:bldP spid="13" grpId="0" animBg="1"/>
      <p:bldP spid="13" grpId="1" animBg="1"/>
      <p:bldP spid="13" grpId="2" animBg="1"/>
      <p:bldP spid="13" grpId="3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736600"/>
            <a:ext cx="10870928" cy="5384800"/>
          </a:xfrm>
          <a:prstGeom prst="roundRect">
            <a:avLst>
              <a:gd name="adj" fmla="val 637"/>
            </a:avLst>
          </a:prstGeom>
          <a:solidFill>
            <a:srgbClr val="10281F">
              <a:alpha val="88000"/>
            </a:srgbClr>
          </a:solidFill>
          <a:ln w="12700">
            <a:solidFill>
              <a:srgbClr val="2A4A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4872" y="1111568"/>
            <a:ext cx="10591535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kern="100" spc="72" dirty="0">
                <a:solidFill>
                  <a:srgbClr val="AFC2B6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SYSTEMIC ALIGNMENT · THE CHARTER FOR ACTION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4872" y="1616373"/>
            <a:ext cx="9981950" cy="31651"/>
          </a:xfrm>
          <a:prstGeom prst="roundRect">
            <a:avLst>
              <a:gd name="adj" fmla="val 49998"/>
            </a:avLst>
          </a:prstGeom>
          <a:solidFill>
            <a:srgbClr val="F5C518"/>
          </a:solidFill>
          <a:ln/>
        </p:spPr>
      </p:sp>
      <p:sp>
        <p:nvSpPr>
          <p:cNvPr id="5" name="Text 3"/>
          <p:cNvSpPr/>
          <p:nvPr/>
        </p:nvSpPr>
        <p:spPr>
          <a:xfrm>
            <a:off x="1104872" y="1923395"/>
            <a:ext cx="998195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Aligning Strategy, Capital, and People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104872" y="2555538"/>
            <a:ext cx="10591535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AFC2B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transition demands total convergence across frontline resistance, institutional capital, and political power.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04872" y="3128724"/>
            <a:ext cx="3022524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66" dirty="0">
                <a:solidFill>
                  <a:srgbClr val="F5C518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PILLAR 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04872" y="3455789"/>
            <a:ext cx="3022524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Defund Extraction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04872" y="3818255"/>
            <a:ext cx="3022524" cy="13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Sever private bank underwriting, eliminate state exploration subsidies, and enforce fiduciary duty standards that penalize carbon-heavy balance sheets.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84585" y="3128724"/>
            <a:ext cx="3022524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66" dirty="0">
                <a:solidFill>
                  <a:srgbClr val="F5C518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PILLAR 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84585" y="3455789"/>
            <a:ext cx="3022524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Codify Human Rights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84585" y="3818255"/>
            <a:ext cx="3022524" cy="13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Enshrine the constitutional right to a safe climate, defend frontline environmental protectors from state retaliation, and uphold Indigenous land sovereignty.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064298" y="3128724"/>
            <a:ext cx="3022524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66" dirty="0">
                <a:solidFill>
                  <a:srgbClr val="F5C518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PILLAR 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64298" y="3455789"/>
            <a:ext cx="3022524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Scale Distributed Power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064298" y="3818255"/>
            <a:ext cx="3022524" cy="13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F2F5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Direct philanthropic and public capital toward community-owned solar microgrids and democratic energy co-ops that build irreversible public wealth.</a:t>
            </a:r>
            <a:endParaRPr lang="en-US" sz="1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3" grpId="2" animBg="1"/>
      <p:bldP spid="3" grpId="3" animBg="1"/>
      <p:bldP spid="5" grpId="0" animBg="1"/>
      <p:bldP spid="5" grpId="1" animBg="1"/>
      <p:bldP spid="5" grpId="2" animBg="1"/>
      <p:bldP spid="5" grpId="3" animBg="1"/>
      <p:bldP spid="6" grpId="0" animBg="1"/>
      <p:bldP spid="6" grpId="1" animBg="1"/>
      <p:bldP spid="6" grpId="2" animBg="1"/>
      <p:bldP spid="6" grpId="3" animBg="1"/>
      <p:bldP spid="7" grpId="0" animBg="1"/>
      <p:bldP spid="7" grpId="1" animBg="1"/>
      <p:bldP spid="7" grpId="2" animBg="1"/>
      <p:bldP spid="7" grpId="3" animBg="1"/>
      <p:bldP spid="8" grpId="0" animBg="1"/>
      <p:bldP spid="8" grpId="1" animBg="1"/>
      <p:bldP spid="8" grpId="2" animBg="1"/>
      <p:bldP spid="8" grpId="3" animBg="1"/>
      <p:bldP spid="9" grpId="0" animBg="1"/>
      <p:bldP spid="9" grpId="1" animBg="1"/>
      <p:bldP spid="9" grpId="2" animBg="1"/>
      <p:bldP spid="9" grpId="3" animBg="1"/>
      <p:bldP spid="10" grpId="0" animBg="1"/>
      <p:bldP spid="10" grpId="1" animBg="1"/>
      <p:bldP spid="10" grpId="2" animBg="1"/>
      <p:bldP spid="10" grpId="3" animBg="1"/>
      <p:bldP spid="11" grpId="0" animBg="1"/>
      <p:bldP spid="11" grpId="1" animBg="1"/>
      <p:bldP spid="11" grpId="2" animBg="1"/>
      <p:bldP spid="11" grpId="3" animBg="1"/>
      <p:bldP spid="12" grpId="0" animBg="1"/>
      <p:bldP spid="12" grpId="1" animBg="1"/>
      <p:bldP spid="12" grpId="2" animBg="1"/>
      <p:bldP spid="12" grpId="3" animBg="1"/>
      <p:bldP spid="13" grpId="0" animBg="1"/>
      <p:bldP spid="13" grpId="1" animBg="1"/>
      <p:bldP spid="13" grpId="2" animBg="1"/>
      <p:bldP spid="13" grpId="3" animBg="1"/>
      <p:bldP spid="14" grpId="0" animBg="1"/>
      <p:bldP spid="14" grpId="1" animBg="1"/>
      <p:bldP spid="14" grpId="2" animBg="1"/>
      <p:bldP spid="14" grpId="3" animBg="1"/>
      <p:bldP spid="15" grpId="0" animBg="1"/>
      <p:bldP spid="15" grpId="1" animBg="1"/>
      <p:bldP spid="15" grpId="2" animBg="1"/>
      <p:bldP spid="15" grpId="3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E337B2-1294-4CA6-E1A0-EF78F0E669D5}"/>
              </a:ext>
            </a:extLst>
          </p:cNvPr>
          <p:cNvSpPr txBox="1"/>
          <p:nvPr/>
        </p:nvSpPr>
        <p:spPr>
          <a:xfrm>
            <a:off x="222853" y="1740443"/>
            <a:ext cx="11746293" cy="4770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Barlow" panose="00000500000000000000" pitchFamily="2" charset="0"/>
              </a:rPr>
              <a:t>Climate change is not a problem for tomorrow — it is a challenge we face today.</a:t>
            </a:r>
          </a:p>
          <a:p>
            <a:endParaRPr lang="en-US" sz="2400" dirty="0">
              <a:solidFill>
                <a:schemeClr val="bg1">
                  <a:lumMod val="75000"/>
                </a:schemeClr>
              </a:solidFill>
              <a:latin typeface="Barlow" panose="00000500000000000000" pitchFamily="2" charset="0"/>
            </a:endParaRPr>
          </a:p>
          <a:p>
            <a:pPr algn="ctr"/>
            <a:r>
              <a:rPr lang="en-US" sz="3200" b="1" dirty="0">
                <a:solidFill>
                  <a:schemeClr val="bg1">
                    <a:lumMod val="85000"/>
                  </a:schemeClr>
                </a:solidFill>
                <a:latin typeface="Barlow Condensed Bold" panose="020B0604020202020204" charset="0"/>
              </a:rPr>
              <a:t>Every action matters. Every voice counts.</a:t>
            </a:r>
          </a:p>
          <a:p>
            <a:endParaRPr lang="en-US" sz="3200" dirty="0">
              <a:solidFill>
                <a:schemeClr val="bg1">
                  <a:lumMod val="75000"/>
                </a:schemeClr>
              </a:solidFill>
            </a:endParaRPr>
          </a:p>
          <a:p>
            <a:pPr algn="ctr"/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Barlow" panose="00000500000000000000" pitchFamily="2" charset="0"/>
              </a:rPr>
              <a:t>Let’s protect our planet, inspire change, and build a sustainable future together.</a:t>
            </a:r>
          </a:p>
          <a:p>
            <a:pPr algn="ctr"/>
            <a:endParaRPr lang="en-US" sz="2600" dirty="0">
              <a:solidFill>
                <a:schemeClr val="bg1">
                  <a:lumMod val="75000"/>
                </a:schemeClr>
              </a:solidFill>
              <a:latin typeface="Barlow" panose="00000500000000000000" pitchFamily="2" charset="0"/>
            </a:endParaRPr>
          </a:p>
          <a:p>
            <a:pPr algn="ctr"/>
            <a:r>
              <a:rPr lang="en-US" sz="3200" b="1" dirty="0">
                <a:solidFill>
                  <a:schemeClr val="bg1">
                    <a:lumMod val="85000"/>
                  </a:schemeClr>
                </a:solidFill>
                <a:latin typeface="Barlow Condensed Bold" panose="020B0604020202020204" charset="0"/>
              </a:rPr>
              <a:t>🌱 Act. Speak. Inspire. Change.</a:t>
            </a:r>
          </a:p>
          <a:p>
            <a:pPr algn="ctr"/>
            <a:endParaRPr lang="en-US" sz="3600" b="1" dirty="0">
              <a:solidFill>
                <a:schemeClr val="bg1">
                  <a:lumMod val="75000"/>
                </a:schemeClr>
              </a:solidFill>
            </a:endParaRPr>
          </a:p>
          <a:p>
            <a:pPr algn="ctr"/>
            <a:r>
              <a:rPr lang="en-US" sz="7200" b="1" dirty="0">
                <a:solidFill>
                  <a:schemeClr val="bg1"/>
                </a:solidFill>
                <a:latin typeface="Barlow Bold" panose="00000800000000000000" charset="0"/>
              </a:rPr>
              <a:t>Thank You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F21E85-62CB-8502-A83E-8ADBC7F0426F}"/>
              </a:ext>
            </a:extLst>
          </p:cNvPr>
          <p:cNvSpPr txBox="1"/>
          <p:nvPr/>
        </p:nvSpPr>
        <p:spPr>
          <a:xfrm>
            <a:off x="1131498" y="390616"/>
            <a:ext cx="992900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Barlow Condensed Bold" panose="020B0604020202020204" charset="0"/>
              </a:rPr>
              <a:t>THE FUTURE IS IN OUR HANDS</a:t>
            </a:r>
          </a:p>
        </p:txBody>
      </p:sp>
    </p:spTree>
    <p:extLst>
      <p:ext uri="{BB962C8B-B14F-4D97-AF65-F5344CB8AC3E}">
        <p14:creationId xmlns:p14="http://schemas.microsoft.com/office/powerpoint/2010/main" val="3096896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  <p:bldP spid="5" grpId="0"/>
      <p:bldP spid="5" grpId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1540</Words>
  <Application>Microsoft Office PowerPoint</Application>
  <PresentationFormat>Widescreen</PresentationFormat>
  <Paragraphs>232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Barlow Condensed Bold</vt:lpstr>
      <vt:lpstr>Barlow</vt:lpstr>
      <vt:lpstr>Arial</vt:lpstr>
      <vt:lpstr>Barlow SemiBold</vt:lpstr>
      <vt:lpstr>Barlow Bold</vt:lpstr>
      <vt:lpstr>Barlow Medium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PRASHANT BARTHWAL</cp:lastModifiedBy>
  <cp:revision>11</cp:revision>
  <dcterms:created xsi:type="dcterms:W3CDTF">2026-10-10T14:59:18Z</dcterms:created>
  <dcterms:modified xsi:type="dcterms:W3CDTF">2026-10-13T18:33:03Z</dcterms:modified>
</cp:coreProperties>
</file>